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88" d="100"/>
          <a:sy n="88" d="100"/>
        </p:scale>
        <p:origin x="13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6911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1645920"/>
            <a:ext cx="4754880" cy="4754880"/>
          </a:xfrm>
          <a:prstGeom prst="ellipse">
            <a:avLst/>
          </a:prstGeom>
          <a:solidFill>
            <a:srgbClr val="141A44"/>
          </a:solidFill>
          <a:ln/>
        </p:spPr>
        <p:txBody>
          <a:bodyPr/>
          <a:lstStyle/>
          <a:p>
            <a:endParaRPr lang="en-US"/>
          </a:p>
        </p:txBody>
      </p:sp>
      <p:sp>
        <p:nvSpPr>
          <p:cNvPr id="3" name="Shape 1"/>
          <p:cNvSpPr/>
          <p:nvPr/>
        </p:nvSpPr>
        <p:spPr>
          <a:xfrm>
            <a:off x="10058400" y="4206240"/>
            <a:ext cx="3291840" cy="3291840"/>
          </a:xfrm>
          <a:prstGeom prst="ellipse">
            <a:avLst/>
          </a:prstGeom>
          <a:solidFill>
            <a:srgbClr val="141A44"/>
          </a:solidFill>
          <a:ln/>
        </p:spPr>
        <p:txBody>
          <a:bodyPr/>
          <a:lstStyle/>
          <a:p>
            <a:endParaRPr lang="en-US"/>
          </a:p>
        </p:txBody>
      </p:sp>
      <p:pic>
        <p:nvPicPr>
          <p:cNvPr id="4" name="Image 0" descr="/tmp/deck5/icons/flask_terracotta.png"/>
          <p:cNvPicPr>
            <a:picLocks noChangeAspect="1"/>
          </p:cNvPicPr>
          <p:nvPr/>
        </p:nvPicPr>
        <p:blipFill>
          <a:blip r:embed="rId3"/>
          <a:stretch>
            <a:fillRect/>
          </a:stretch>
        </p:blipFill>
        <p:spPr>
          <a:xfrm>
            <a:off x="548640" y="640080"/>
            <a:ext cx="457200" cy="457200"/>
          </a:xfrm>
          <a:prstGeom prst="rect">
            <a:avLst/>
          </a:prstGeom>
        </p:spPr>
      </p:pic>
      <p:sp>
        <p:nvSpPr>
          <p:cNvPr id="5" name="Text 2"/>
          <p:cNvSpPr txBox="1"/>
          <p:nvPr/>
        </p:nvSpPr>
        <p:spPr>
          <a:xfrm>
            <a:off x="548640" y="1234440"/>
            <a:ext cx="9144000" cy="320040"/>
          </a:xfrm>
          <a:prstGeom prst="rect">
            <a:avLst/>
          </a:prstGeom>
          <a:noFill/>
          <a:ln/>
        </p:spPr>
        <p:txBody>
          <a:bodyPr wrap="square" rtlCol="0" anchor="ctr"/>
          <a:lstStyle/>
          <a:p>
            <a:pPr marL="0" indent="0">
              <a:buNone/>
            </a:pPr>
            <a:r>
              <a:rPr lang="en-US" sz="1300" b="1" kern="0" spc="150" dirty="0">
                <a:solidFill>
                  <a:srgbClr val="CADCFC"/>
                </a:solidFill>
                <a:latin typeface="Calibri" pitchFamily="34" charset="0"/>
                <a:ea typeface="Calibri" pitchFamily="34" charset="-122"/>
                <a:cs typeface="Calibri" pitchFamily="34" charset="-120"/>
              </a:rPr>
              <a:t>PS 530 · INTRODUCTION TO APPLIED STATISTICS · SEPTEMBER 22</a:t>
            </a:r>
            <a:endParaRPr lang="en-US" sz="1300" dirty="0"/>
          </a:p>
        </p:txBody>
      </p:sp>
      <p:sp>
        <p:nvSpPr>
          <p:cNvPr id="6" name="Text 3"/>
          <p:cNvSpPr txBox="1"/>
          <p:nvPr/>
        </p:nvSpPr>
        <p:spPr>
          <a:xfrm>
            <a:off x="548640" y="1691640"/>
            <a:ext cx="10058400" cy="91440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Exploration 5</a:t>
            </a:r>
            <a:endParaRPr lang="en-US" sz="4600" dirty="0"/>
          </a:p>
        </p:txBody>
      </p:sp>
      <p:sp>
        <p:nvSpPr>
          <p:cNvPr id="7" name="Text 4"/>
          <p:cNvSpPr txBox="1"/>
          <p:nvPr/>
        </p:nvSpPr>
        <p:spPr>
          <a:xfrm>
            <a:off x="548640" y="2606040"/>
            <a:ext cx="9601200" cy="731520"/>
          </a:xfrm>
          <a:prstGeom prst="rect">
            <a:avLst/>
          </a:prstGeom>
          <a:noFill/>
          <a:ln/>
        </p:spPr>
        <p:txBody>
          <a:bodyPr wrap="square" rtlCol="0" anchor="ctr"/>
          <a:lstStyle/>
          <a:p>
            <a:pPr marL="0" indent="0">
              <a:buNone/>
            </a:pPr>
            <a:r>
              <a:rPr lang="en-US" sz="2200" i="1" dirty="0">
                <a:solidFill>
                  <a:srgbClr val="CADCFC"/>
                </a:solidFill>
                <a:latin typeface="Cambria" pitchFamily="34" charset="0"/>
                <a:ea typeface="Cambria" pitchFamily="34" charset="-122"/>
                <a:cs typeface="Cambria" pitchFamily="34" charset="-120"/>
              </a:rPr>
              <a:t>Estimating Unobserved Causal Quantities in Randomized Experiments</a:t>
            </a:r>
            <a:endParaRPr lang="en-US" sz="2200" dirty="0"/>
          </a:p>
        </p:txBody>
      </p:sp>
      <p:sp>
        <p:nvSpPr>
          <p:cNvPr id="8" name="Text 5"/>
          <p:cNvSpPr txBox="1"/>
          <p:nvPr/>
        </p:nvSpPr>
        <p:spPr>
          <a:xfrm>
            <a:off x="548640" y="3383280"/>
            <a:ext cx="9144000" cy="457200"/>
          </a:xfrm>
          <a:prstGeom prst="rect">
            <a:avLst/>
          </a:prstGeom>
          <a:noFill/>
          <a:ln/>
        </p:spPr>
        <p:txBody>
          <a:bodyPr wrap="square" rtlCol="0" anchor="ctr"/>
          <a:lstStyle/>
          <a:p>
            <a:pPr marL="0" indent="0">
              <a:buNone/>
            </a:pPr>
            <a:endParaRPr lang="en-US" sz="1400" dirty="0"/>
          </a:p>
        </p:txBody>
      </p:sp>
      <p:sp>
        <p:nvSpPr>
          <p:cNvPr id="9" name="Shape 6"/>
          <p:cNvSpPr/>
          <p:nvPr/>
        </p:nvSpPr>
        <p:spPr>
          <a:xfrm>
            <a:off x="548640" y="4892040"/>
            <a:ext cx="3017520" cy="1234440"/>
          </a:xfrm>
          <a:prstGeom prst="roundRect">
            <a:avLst>
              <a:gd name="adj" fmla="val 6667"/>
            </a:avLst>
          </a:prstGeom>
          <a:solidFill>
            <a:srgbClr val="141A44"/>
          </a:solidFill>
          <a:ln w="12700">
            <a:solidFill>
              <a:srgbClr val="334B94"/>
            </a:solidFill>
            <a:prstDash val="solid"/>
          </a:ln>
        </p:spPr>
        <p:txBody>
          <a:bodyPr/>
          <a:lstStyle/>
          <a:p>
            <a:endParaRPr lang="en-US"/>
          </a:p>
        </p:txBody>
      </p:sp>
      <p:pic>
        <p:nvPicPr>
          <p:cNvPr id="10" name="Image 1" descr="/tmp/deck5/icons/shuffle_terracotta.png"/>
          <p:cNvPicPr>
            <a:picLocks noChangeAspect="1"/>
          </p:cNvPicPr>
          <p:nvPr/>
        </p:nvPicPr>
        <p:blipFill>
          <a:blip r:embed="rId4"/>
          <a:stretch>
            <a:fillRect/>
          </a:stretch>
        </p:blipFill>
        <p:spPr>
          <a:xfrm>
            <a:off x="749808" y="5111496"/>
            <a:ext cx="384048" cy="384048"/>
          </a:xfrm>
          <a:prstGeom prst="rect">
            <a:avLst/>
          </a:prstGeom>
        </p:spPr>
      </p:pic>
      <p:sp>
        <p:nvSpPr>
          <p:cNvPr id="11" name="Text 7"/>
          <p:cNvSpPr txBox="1"/>
          <p:nvPr/>
        </p:nvSpPr>
        <p:spPr>
          <a:xfrm>
            <a:off x="1261872" y="5038344"/>
            <a:ext cx="2194560" cy="256032"/>
          </a:xfrm>
          <a:prstGeom prst="rect">
            <a:avLst/>
          </a:prstGeom>
          <a:noFill/>
          <a:ln/>
        </p:spPr>
        <p:txBody>
          <a:bodyPr wrap="square" rtlCol="0" anchor="ctr"/>
          <a:lstStyle/>
          <a:p>
            <a:pPr marL="0" indent="0">
              <a:buNone/>
            </a:pPr>
            <a:r>
              <a:rPr lang="en-US" sz="1050" b="1" kern="0" spc="100" dirty="0">
                <a:solidFill>
                  <a:srgbClr val="C1440E"/>
                </a:solidFill>
                <a:latin typeface="Calibri" pitchFamily="34" charset="0"/>
                <a:ea typeface="Calibri" pitchFamily="34" charset="-122"/>
                <a:cs typeface="Calibri" pitchFamily="34" charset="-120"/>
              </a:rPr>
              <a:t>Act 1</a:t>
            </a:r>
            <a:endParaRPr lang="en-US" sz="1050" dirty="0"/>
          </a:p>
        </p:txBody>
      </p:sp>
      <p:sp>
        <p:nvSpPr>
          <p:cNvPr id="12" name="Text 8"/>
          <p:cNvSpPr txBox="1"/>
          <p:nvPr/>
        </p:nvSpPr>
        <p:spPr>
          <a:xfrm>
            <a:off x="1261872" y="5276088"/>
            <a:ext cx="2194560" cy="685800"/>
          </a:xfrm>
          <a:prstGeom prst="rect">
            <a:avLst/>
          </a:prstGeom>
          <a:noFill/>
          <a:ln/>
        </p:spPr>
        <p:txBody>
          <a:bodyPr wrap="square"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Does randomization work?</a:t>
            </a:r>
            <a:endParaRPr lang="en-US" sz="1350" dirty="0"/>
          </a:p>
        </p:txBody>
      </p:sp>
      <p:sp>
        <p:nvSpPr>
          <p:cNvPr id="13" name="Shape 9"/>
          <p:cNvSpPr/>
          <p:nvPr/>
        </p:nvSpPr>
        <p:spPr>
          <a:xfrm>
            <a:off x="3840480" y="4892040"/>
            <a:ext cx="3017520" cy="1234440"/>
          </a:xfrm>
          <a:prstGeom prst="roundRect">
            <a:avLst>
              <a:gd name="adj" fmla="val 6667"/>
            </a:avLst>
          </a:prstGeom>
          <a:solidFill>
            <a:srgbClr val="141A44"/>
          </a:solidFill>
          <a:ln w="12700">
            <a:solidFill>
              <a:srgbClr val="334B94"/>
            </a:solidFill>
            <a:prstDash val="solid"/>
          </a:ln>
        </p:spPr>
        <p:txBody>
          <a:bodyPr/>
          <a:lstStyle/>
          <a:p>
            <a:endParaRPr lang="en-US"/>
          </a:p>
        </p:txBody>
      </p:sp>
      <p:pic>
        <p:nvPicPr>
          <p:cNvPr id="14" name="Image 2" descr="/tmp/deck5/icons/bullseye_terracotta.png"/>
          <p:cNvPicPr>
            <a:picLocks noChangeAspect="1"/>
          </p:cNvPicPr>
          <p:nvPr/>
        </p:nvPicPr>
        <p:blipFill>
          <a:blip r:embed="rId5"/>
          <a:stretch>
            <a:fillRect/>
          </a:stretch>
        </p:blipFill>
        <p:spPr>
          <a:xfrm>
            <a:off x="4041648" y="5111496"/>
            <a:ext cx="384048" cy="384048"/>
          </a:xfrm>
          <a:prstGeom prst="rect">
            <a:avLst/>
          </a:prstGeom>
        </p:spPr>
      </p:pic>
      <p:sp>
        <p:nvSpPr>
          <p:cNvPr id="15" name="Text 10"/>
          <p:cNvSpPr txBox="1"/>
          <p:nvPr/>
        </p:nvSpPr>
        <p:spPr>
          <a:xfrm>
            <a:off x="4553712" y="5038344"/>
            <a:ext cx="2194560" cy="256032"/>
          </a:xfrm>
          <a:prstGeom prst="rect">
            <a:avLst/>
          </a:prstGeom>
          <a:noFill/>
          <a:ln/>
        </p:spPr>
        <p:txBody>
          <a:bodyPr wrap="square" rtlCol="0" anchor="ctr"/>
          <a:lstStyle/>
          <a:p>
            <a:pPr marL="0" indent="0">
              <a:buNone/>
            </a:pPr>
            <a:r>
              <a:rPr lang="en-US" sz="1050" b="1" kern="0" spc="100" dirty="0">
                <a:solidFill>
                  <a:srgbClr val="C1440E"/>
                </a:solidFill>
                <a:latin typeface="Calibri" pitchFamily="34" charset="0"/>
                <a:ea typeface="Calibri" pitchFamily="34" charset="-122"/>
                <a:cs typeface="Calibri" pitchFamily="34" charset="-120"/>
              </a:rPr>
              <a:t>Act 2</a:t>
            </a:r>
            <a:endParaRPr lang="en-US" sz="1050" dirty="0"/>
          </a:p>
        </p:txBody>
      </p:sp>
      <p:sp>
        <p:nvSpPr>
          <p:cNvPr id="16" name="Text 11"/>
          <p:cNvSpPr txBox="1"/>
          <p:nvPr/>
        </p:nvSpPr>
        <p:spPr>
          <a:xfrm>
            <a:off x="4553712" y="5276088"/>
            <a:ext cx="2194560" cy="685800"/>
          </a:xfrm>
          <a:prstGeom prst="rect">
            <a:avLst/>
          </a:prstGeom>
          <a:noFill/>
          <a:ln/>
        </p:spPr>
        <p:txBody>
          <a:bodyPr wrap="square"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Estimate a causal effect</a:t>
            </a:r>
            <a:endParaRPr lang="en-US" sz="1350" dirty="0"/>
          </a:p>
        </p:txBody>
      </p:sp>
      <p:sp>
        <p:nvSpPr>
          <p:cNvPr id="17" name="Shape 12"/>
          <p:cNvSpPr/>
          <p:nvPr/>
        </p:nvSpPr>
        <p:spPr>
          <a:xfrm>
            <a:off x="7132320" y="4892040"/>
            <a:ext cx="3017520" cy="1234440"/>
          </a:xfrm>
          <a:prstGeom prst="roundRect">
            <a:avLst>
              <a:gd name="adj" fmla="val 6667"/>
            </a:avLst>
          </a:prstGeom>
          <a:solidFill>
            <a:srgbClr val="141A44"/>
          </a:solidFill>
          <a:ln w="12700">
            <a:solidFill>
              <a:srgbClr val="334B94"/>
            </a:solidFill>
            <a:prstDash val="solid"/>
          </a:ln>
        </p:spPr>
        <p:txBody>
          <a:bodyPr/>
          <a:lstStyle/>
          <a:p>
            <a:endParaRPr lang="en-US"/>
          </a:p>
        </p:txBody>
      </p:sp>
      <p:pic>
        <p:nvPicPr>
          <p:cNvPr id="18" name="Image 3" descr="/tmp/deck5/icons/scale_terracotta.png"/>
          <p:cNvPicPr>
            <a:picLocks noChangeAspect="1"/>
          </p:cNvPicPr>
          <p:nvPr/>
        </p:nvPicPr>
        <p:blipFill>
          <a:blip r:embed="rId6"/>
          <a:stretch>
            <a:fillRect/>
          </a:stretch>
        </p:blipFill>
        <p:spPr>
          <a:xfrm>
            <a:off x="7333488" y="5111496"/>
            <a:ext cx="384048" cy="384048"/>
          </a:xfrm>
          <a:prstGeom prst="rect">
            <a:avLst/>
          </a:prstGeom>
        </p:spPr>
      </p:pic>
      <p:sp>
        <p:nvSpPr>
          <p:cNvPr id="19" name="Text 13"/>
          <p:cNvSpPr txBox="1"/>
          <p:nvPr/>
        </p:nvSpPr>
        <p:spPr>
          <a:xfrm>
            <a:off x="7845552" y="5038344"/>
            <a:ext cx="2194560" cy="256032"/>
          </a:xfrm>
          <a:prstGeom prst="rect">
            <a:avLst/>
          </a:prstGeom>
          <a:noFill/>
          <a:ln/>
        </p:spPr>
        <p:txBody>
          <a:bodyPr wrap="square" rtlCol="0" anchor="ctr"/>
          <a:lstStyle/>
          <a:p>
            <a:pPr marL="0" indent="0">
              <a:buNone/>
            </a:pPr>
            <a:r>
              <a:rPr lang="en-US" sz="1050" b="1" kern="0" spc="100" dirty="0">
                <a:solidFill>
                  <a:srgbClr val="C1440E"/>
                </a:solidFill>
                <a:latin typeface="Calibri" pitchFamily="34" charset="0"/>
                <a:ea typeface="Calibri" pitchFamily="34" charset="-122"/>
                <a:cs typeface="Calibri" pitchFamily="34" charset="-120"/>
              </a:rPr>
              <a:t>Act 3</a:t>
            </a:r>
            <a:endParaRPr lang="en-US" sz="1050" dirty="0"/>
          </a:p>
        </p:txBody>
      </p:sp>
      <p:sp>
        <p:nvSpPr>
          <p:cNvPr id="20" name="Text 14"/>
          <p:cNvSpPr txBox="1"/>
          <p:nvPr/>
        </p:nvSpPr>
        <p:spPr>
          <a:xfrm>
            <a:off x="7845552" y="5276088"/>
            <a:ext cx="2194560" cy="685800"/>
          </a:xfrm>
          <a:prstGeom prst="rect">
            <a:avLst/>
          </a:prstGeom>
          <a:noFill/>
          <a:ln/>
        </p:spPr>
        <p:txBody>
          <a:bodyPr wrap="square"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Compare two estimators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map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WHERE THIS FITS</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September 22 — Estimation and Unobserved Causal Counterfactuals</a:t>
            </a:r>
            <a:endParaRPr lang="en-US" sz="2700" dirty="0"/>
          </a:p>
        </p:txBody>
      </p:sp>
      <p:sp>
        <p:nvSpPr>
          <p:cNvPr id="6" name="Shape 3"/>
          <p:cNvSpPr/>
          <p:nvPr/>
        </p:nvSpPr>
        <p:spPr>
          <a:xfrm>
            <a:off x="548640" y="1508760"/>
            <a:ext cx="5577840" cy="4480560"/>
          </a:xfrm>
          <a:prstGeom prst="roundRect">
            <a:avLst>
              <a:gd name="adj" fmla="val 1633"/>
            </a:avLst>
          </a:prstGeom>
          <a:solidFill>
            <a:srgbClr val="EEF3FC"/>
          </a:solidFill>
          <a:ln/>
          <a:effectLst>
            <a:outerShdw blurRad="101600" dist="38100" dir="5400000" algn="bl" rotWithShape="0">
              <a:srgbClr val="1B1F3B">
                <a:alpha val="18000"/>
              </a:srgbClr>
            </a:outerShdw>
          </a:effectLst>
        </p:spPr>
        <p:txBody>
          <a:bodyPr/>
          <a:lstStyle/>
          <a:p>
            <a:endParaRPr lang="en-US"/>
          </a:p>
        </p:txBody>
      </p:sp>
      <p:sp>
        <p:nvSpPr>
          <p:cNvPr id="7" name="Text 4"/>
          <p:cNvSpPr txBox="1"/>
          <p:nvPr/>
        </p:nvSpPr>
        <p:spPr>
          <a:xfrm>
            <a:off x="822960" y="1737360"/>
            <a:ext cx="5029200"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This week's question</a:t>
            </a:r>
            <a:endParaRPr lang="en-US" sz="1400" dirty="0"/>
          </a:p>
        </p:txBody>
      </p:sp>
      <p:sp>
        <p:nvSpPr>
          <p:cNvPr id="8" name="Text 5"/>
          <p:cNvSpPr txBox="1"/>
          <p:nvPr/>
        </p:nvSpPr>
        <p:spPr>
          <a:xfrm>
            <a:off x="822960" y="2148840"/>
            <a:ext cx="5029200" cy="3657600"/>
          </a:xfrm>
          <a:prstGeom prst="rect">
            <a:avLst/>
          </a:prstGeom>
          <a:noFill/>
          <a:ln/>
        </p:spPr>
        <p:txBody>
          <a:bodyPr wrap="square" rtlCol="0" anchor="t"/>
          <a:lstStyle/>
          <a:p>
            <a:pPr marL="228600" indent="-228600">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What do we mean when we say “Z caused Y”?</a:t>
            </a:r>
            <a:endParaRPr lang="en-US" sz="1350" dirty="0"/>
          </a:p>
          <a:p>
            <a:pPr marL="228600" indent="-228600">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What is the counterfactual interpretation of that statement?</a:t>
            </a:r>
            <a:endParaRPr lang="en-US" sz="1350" dirty="0"/>
          </a:p>
          <a:p>
            <a:pPr marL="228600" indent="-228600">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What is the role of variables we observe that are neither Z nor Y?</a:t>
            </a:r>
            <a:endParaRPr lang="en-US" sz="1350" dirty="0"/>
          </a:p>
          <a:p>
            <a:pPr marL="228600" indent="-228600">
              <a:spcAft>
                <a:spcPts val="1000"/>
              </a:spcAft>
              <a:buSzPct val="100000"/>
              <a:buChar char="•"/>
            </a:pPr>
            <a:r>
              <a:rPr lang="en-US" sz="1350" b="1" dirty="0">
                <a:solidFill>
                  <a:srgbClr val="C1440E"/>
                </a:solidFill>
                <a:latin typeface="Calibri" pitchFamily="34" charset="0"/>
                <a:ea typeface="Calibri" pitchFamily="34" charset="-122"/>
                <a:cs typeface="Calibri" pitchFamily="34" charset="-120"/>
              </a:rPr>
              <a:t>“Work on the idea of ‘unbiased estimation’ in the exploration”</a:t>
            </a:r>
            <a:endParaRPr lang="en-US" sz="1350" dirty="0"/>
          </a:p>
        </p:txBody>
      </p:sp>
      <p:sp>
        <p:nvSpPr>
          <p:cNvPr id="9" name="Shape 6"/>
          <p:cNvSpPr/>
          <p:nvPr/>
        </p:nvSpPr>
        <p:spPr>
          <a:xfrm>
            <a:off x="6400800" y="1508760"/>
            <a:ext cx="5239512" cy="4480560"/>
          </a:xfrm>
          <a:prstGeom prst="roundRect">
            <a:avLst>
              <a:gd name="adj" fmla="val 1633"/>
            </a:avLst>
          </a:prstGeom>
          <a:solidFill>
            <a:srgbClr val="1E2761"/>
          </a:solidFill>
          <a:ln/>
          <a:effectLst>
            <a:outerShdw blurRad="101600" dist="38100" dir="5400000" algn="bl" rotWithShape="0">
              <a:srgbClr val="1B1F3B">
                <a:alpha val="18000"/>
              </a:srgbClr>
            </a:outerShdw>
          </a:effectLst>
        </p:spPr>
        <p:txBody>
          <a:bodyPr/>
          <a:lstStyle/>
          <a:p>
            <a:endParaRPr lang="en-US"/>
          </a:p>
        </p:txBody>
      </p:sp>
      <p:sp>
        <p:nvSpPr>
          <p:cNvPr id="10" name="Text 7"/>
          <p:cNvSpPr txBox="1"/>
          <p:nvPr/>
        </p:nvSpPr>
        <p:spPr>
          <a:xfrm>
            <a:off x="6675120" y="1737360"/>
            <a:ext cx="466344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Assigned readings</a:t>
            </a:r>
            <a:endParaRPr lang="en-US" sz="1400" dirty="0"/>
          </a:p>
        </p:txBody>
      </p:sp>
      <p:sp>
        <p:nvSpPr>
          <p:cNvPr id="11" name="Text 8"/>
          <p:cNvSpPr txBox="1"/>
          <p:nvPr/>
        </p:nvSpPr>
        <p:spPr>
          <a:xfrm>
            <a:off x="6675120" y="2148840"/>
            <a:ext cx="4663440" cy="3657600"/>
          </a:xfrm>
          <a:prstGeom prst="rect">
            <a:avLst/>
          </a:prstGeom>
          <a:noFill/>
          <a:ln/>
        </p:spPr>
        <p:txBody>
          <a:bodyPr wrap="square" rtlCol="0" anchor="t"/>
          <a:lstStyle/>
          <a:p>
            <a:pPr marL="228600" indent="-228600">
              <a:spcAft>
                <a:spcPts val="1000"/>
              </a:spcAft>
              <a:buSzPct val="100000"/>
              <a:buChar char="•"/>
            </a:pPr>
            <a:r>
              <a:rPr lang="en-US" sz="1280" dirty="0">
                <a:solidFill>
                  <a:srgbClr val="CADCFC"/>
                </a:solidFill>
                <a:latin typeface="Calibri" pitchFamily="34" charset="0"/>
                <a:ea typeface="Calibri" pitchFamily="34" charset="-122"/>
                <a:cs typeface="Calibri" pitchFamily="34" charset="-120"/>
              </a:rPr>
              <a:t>Brady (2008) — Neyman's ATE &amp; the fundamental problem</a:t>
            </a:r>
            <a:endParaRPr lang="en-US" sz="1280" dirty="0"/>
          </a:p>
          <a:p>
            <a:pPr marL="228600" indent="-228600">
              <a:spcAft>
                <a:spcPts val="1000"/>
              </a:spcAft>
              <a:buSzPct val="100000"/>
              <a:buChar char="•"/>
            </a:pPr>
            <a:r>
              <a:rPr lang="en-US" sz="1280" dirty="0">
                <a:solidFill>
                  <a:srgbClr val="CADCFC"/>
                </a:solidFill>
                <a:latin typeface="Calibri" pitchFamily="34" charset="0"/>
                <a:ea typeface="Calibri" pitchFamily="34" charset="-122"/>
                <a:cs typeface="Calibri" pitchFamily="34" charset="-120"/>
              </a:rPr>
              <a:t>Rosenbaum (2017) Ch.1–2; (2010) Ch.1–2</a:t>
            </a:r>
            <a:endParaRPr lang="en-US" sz="1280" dirty="0"/>
          </a:p>
          <a:p>
            <a:pPr marL="228600" indent="-228600">
              <a:spcAft>
                <a:spcPts val="1000"/>
              </a:spcAft>
              <a:buSzPct val="100000"/>
              <a:buChar char="•"/>
            </a:pPr>
            <a:r>
              <a:rPr lang="en-US" sz="1280" dirty="0">
                <a:solidFill>
                  <a:srgbClr val="CADCFC"/>
                </a:solidFill>
                <a:latin typeface="Calibri" pitchFamily="34" charset="0"/>
                <a:ea typeface="Calibri" pitchFamily="34" charset="-122"/>
                <a:cs typeface="Calibri" pitchFamily="34" charset="-120"/>
              </a:rPr>
              <a:t>Imbens &amp; Rubin (2015) Ch.1–2 — potential outcomes, SUTVA</a:t>
            </a:r>
            <a:endParaRPr lang="en-US" sz="1280" dirty="0"/>
          </a:p>
          <a:p>
            <a:pPr marL="228600" indent="-228600">
              <a:spcAft>
                <a:spcPts val="1000"/>
              </a:spcAft>
              <a:buSzPct val="100000"/>
              <a:buChar char="•"/>
            </a:pPr>
            <a:r>
              <a:rPr lang="en-US" sz="1280" dirty="0">
                <a:solidFill>
                  <a:srgbClr val="CADCFC"/>
                </a:solidFill>
                <a:latin typeface="Calibri" pitchFamily="34" charset="0"/>
                <a:ea typeface="Calibri" pitchFamily="34" charset="-122"/>
                <a:cs typeface="Calibri" pitchFamily="34" charset="-120"/>
              </a:rPr>
              <a:t>Dunning (2012) Ch.1–2 — causal-inference foundations</a:t>
            </a:r>
            <a:endParaRPr lang="en-US" sz="1280" dirty="0"/>
          </a:p>
          <a:p>
            <a:pPr marL="228600" indent="-228600">
              <a:spcAft>
                <a:spcPts val="1000"/>
              </a:spcAft>
              <a:buSzPct val="100000"/>
              <a:buChar char="•"/>
            </a:pPr>
            <a:r>
              <a:rPr lang="en-US" sz="1280" dirty="0">
                <a:solidFill>
                  <a:srgbClr val="CADCFC"/>
                </a:solidFill>
                <a:latin typeface="Calibri" pitchFamily="34" charset="0"/>
                <a:ea typeface="Calibri" pitchFamily="34" charset="-122"/>
                <a:cs typeface="Calibri" pitchFamily="34" charset="-120"/>
              </a:rPr>
              <a:t>Gerber &amp; Green (2012) Ch.1–3 — the load-bearing reading</a:t>
            </a:r>
            <a:endParaRPr lang="en-US" sz="1280" dirty="0"/>
          </a:p>
          <a:p>
            <a:pPr marL="228600" indent="-228600">
              <a:spcAft>
                <a:spcPts val="1000"/>
              </a:spcAft>
              <a:buSzPct val="100000"/>
              <a:buChar char="•"/>
            </a:pPr>
            <a:r>
              <a:rPr lang="en-US" sz="1280" dirty="0">
                <a:solidFill>
                  <a:srgbClr val="CADCFC"/>
                </a:solidFill>
                <a:latin typeface="Calibri" pitchFamily="34" charset="0"/>
                <a:ea typeface="Calibri" pitchFamily="34" charset="-122"/>
                <a:cs typeface="Calibri" pitchFamily="34" charset="-120"/>
              </a:rPr>
              <a:t>EGAP “Estimands and Estimators” module</a:t>
            </a:r>
            <a:endParaRPr lang="en-US" sz="1280" dirty="0"/>
          </a:p>
        </p:txBody>
      </p:sp>
      <p:sp>
        <p:nvSpPr>
          <p:cNvPr id="12" name="Text 9"/>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13" name="Text 10"/>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list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ROADMAP</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Three acts</a:t>
            </a:r>
            <a:endParaRPr lang="en-US" sz="2700" dirty="0"/>
          </a:p>
        </p:txBody>
      </p:sp>
      <p:sp>
        <p:nvSpPr>
          <p:cNvPr id="6" name="Text 3"/>
          <p:cNvSpPr txBox="1"/>
          <p:nvPr/>
        </p:nvSpPr>
        <p:spPr>
          <a:xfrm>
            <a:off x="548640" y="1417320"/>
            <a:ext cx="10515600" cy="365760"/>
          </a:xfrm>
          <a:prstGeom prst="rect">
            <a:avLst/>
          </a:prstGeom>
          <a:noFill/>
          <a:ln/>
        </p:spPr>
        <p:txBody>
          <a:bodyPr wrap="square"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Every question below reuses the same 28 Kansas City precincts (nothing is simulated data until Q9).</a:t>
            </a:r>
            <a:endParaRPr lang="en-US" sz="1300" dirty="0"/>
          </a:p>
        </p:txBody>
      </p:sp>
      <p:sp>
        <p:nvSpPr>
          <p:cNvPr id="7" name="Shape 4"/>
          <p:cNvSpPr/>
          <p:nvPr/>
        </p:nvSpPr>
        <p:spPr>
          <a:xfrm>
            <a:off x="548640" y="2148840"/>
            <a:ext cx="502920" cy="502920"/>
          </a:xfrm>
          <a:prstGeom prst="ellipse">
            <a:avLst/>
          </a:prstGeom>
          <a:solidFill>
            <a:srgbClr val="1E2761"/>
          </a:solidFill>
          <a:ln/>
        </p:spPr>
        <p:txBody>
          <a:bodyPr/>
          <a:lstStyle/>
          <a:p>
            <a:endParaRPr lang="en-US"/>
          </a:p>
        </p:txBody>
      </p:sp>
      <p:pic>
        <p:nvPicPr>
          <p:cNvPr id="8" name="Image 1" descr="/tmp/deck5/icons/shuffle_white.png"/>
          <p:cNvPicPr>
            <a:picLocks noChangeAspect="1"/>
          </p:cNvPicPr>
          <p:nvPr/>
        </p:nvPicPr>
        <p:blipFill>
          <a:blip r:embed="rId4"/>
          <a:stretch>
            <a:fillRect/>
          </a:stretch>
        </p:blipFill>
        <p:spPr>
          <a:xfrm>
            <a:off x="658368" y="2258568"/>
            <a:ext cx="283464" cy="283464"/>
          </a:xfrm>
          <a:prstGeom prst="rect">
            <a:avLst/>
          </a:prstGeom>
        </p:spPr>
      </p:pic>
      <p:sp>
        <p:nvSpPr>
          <p:cNvPr id="9" name="Text 5"/>
          <p:cNvSpPr txBox="1"/>
          <p:nvPr/>
        </p:nvSpPr>
        <p:spPr>
          <a:xfrm>
            <a:off x="548640" y="2770632"/>
            <a:ext cx="3484778"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Act 1 · Q1–Q6</a:t>
            </a:r>
            <a:endParaRPr lang="en-US" sz="1400" dirty="0"/>
          </a:p>
        </p:txBody>
      </p:sp>
      <p:sp>
        <p:nvSpPr>
          <p:cNvPr id="10" name="Text 6"/>
          <p:cNvSpPr txBox="1"/>
          <p:nvPr/>
        </p:nvSpPr>
        <p:spPr>
          <a:xfrm>
            <a:off x="548640" y="3081528"/>
            <a:ext cx="3484778" cy="1737360"/>
          </a:xfrm>
          <a:prstGeom prst="rect">
            <a:avLst/>
          </a:prstGeom>
          <a:noFill/>
          <a:ln/>
        </p:spPr>
        <p:txBody>
          <a:bodyPr wrap="square" rtlCol="0" anchor="t"/>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Does random assignment actually protect ACORN, and how would you show a skeptic it worked?</a:t>
            </a:r>
            <a:endParaRPr lang="en-US" sz="1150" dirty="0"/>
          </a:p>
        </p:txBody>
      </p:sp>
      <p:sp>
        <p:nvSpPr>
          <p:cNvPr id="11" name="Shape 7"/>
          <p:cNvSpPr/>
          <p:nvPr/>
        </p:nvSpPr>
        <p:spPr>
          <a:xfrm>
            <a:off x="4353458" y="2148840"/>
            <a:ext cx="502920" cy="502920"/>
          </a:xfrm>
          <a:prstGeom prst="ellipse">
            <a:avLst/>
          </a:prstGeom>
          <a:solidFill>
            <a:srgbClr val="1E2761"/>
          </a:solidFill>
          <a:ln/>
        </p:spPr>
        <p:txBody>
          <a:bodyPr/>
          <a:lstStyle/>
          <a:p>
            <a:endParaRPr lang="en-US"/>
          </a:p>
        </p:txBody>
      </p:sp>
      <p:pic>
        <p:nvPicPr>
          <p:cNvPr id="12" name="Image 2" descr="/tmp/deck5/icons/bullseye_white.png"/>
          <p:cNvPicPr>
            <a:picLocks noChangeAspect="1"/>
          </p:cNvPicPr>
          <p:nvPr/>
        </p:nvPicPr>
        <p:blipFill>
          <a:blip r:embed="rId5"/>
          <a:stretch>
            <a:fillRect/>
          </a:stretch>
        </p:blipFill>
        <p:spPr>
          <a:xfrm>
            <a:off x="4463186" y="2258568"/>
            <a:ext cx="283464" cy="283464"/>
          </a:xfrm>
          <a:prstGeom prst="rect">
            <a:avLst/>
          </a:prstGeom>
        </p:spPr>
      </p:pic>
      <p:sp>
        <p:nvSpPr>
          <p:cNvPr id="13" name="Text 8"/>
          <p:cNvSpPr txBox="1"/>
          <p:nvPr/>
        </p:nvSpPr>
        <p:spPr>
          <a:xfrm>
            <a:off x="4353458" y="2770632"/>
            <a:ext cx="3484778"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Act 2 · Q7–Q8</a:t>
            </a:r>
            <a:endParaRPr lang="en-US" sz="1400" dirty="0"/>
          </a:p>
        </p:txBody>
      </p:sp>
      <p:sp>
        <p:nvSpPr>
          <p:cNvPr id="14" name="Text 9"/>
          <p:cNvSpPr txBox="1"/>
          <p:nvPr/>
        </p:nvSpPr>
        <p:spPr>
          <a:xfrm>
            <a:off x="4353458" y="3081528"/>
            <a:ext cx="3484778" cy="1737360"/>
          </a:xfrm>
          <a:prstGeom prst="rect">
            <a:avLst/>
          </a:prstGeom>
          <a:noFill/>
          <a:ln/>
        </p:spPr>
        <p:txBody>
          <a:bodyPr wrap="square" rtlCol="0" anchor="t"/>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Estimand, estimator, estimate: and what the standard error is really guessing at.</a:t>
            </a:r>
            <a:endParaRPr lang="en-US" sz="1150" dirty="0"/>
          </a:p>
        </p:txBody>
      </p:sp>
      <p:sp>
        <p:nvSpPr>
          <p:cNvPr id="15" name="Shape 10"/>
          <p:cNvSpPr/>
          <p:nvPr/>
        </p:nvSpPr>
        <p:spPr>
          <a:xfrm>
            <a:off x="8158277" y="2148840"/>
            <a:ext cx="502920" cy="502920"/>
          </a:xfrm>
          <a:prstGeom prst="ellipse">
            <a:avLst/>
          </a:prstGeom>
          <a:solidFill>
            <a:srgbClr val="1E2761"/>
          </a:solidFill>
          <a:ln/>
        </p:spPr>
        <p:txBody>
          <a:bodyPr/>
          <a:lstStyle/>
          <a:p>
            <a:endParaRPr lang="en-US"/>
          </a:p>
        </p:txBody>
      </p:sp>
      <p:pic>
        <p:nvPicPr>
          <p:cNvPr id="16" name="Image 3" descr="/tmp/deck5/icons/scale_white.png"/>
          <p:cNvPicPr>
            <a:picLocks noChangeAspect="1"/>
          </p:cNvPicPr>
          <p:nvPr/>
        </p:nvPicPr>
        <p:blipFill>
          <a:blip r:embed="rId6"/>
          <a:stretch>
            <a:fillRect/>
          </a:stretch>
        </p:blipFill>
        <p:spPr>
          <a:xfrm>
            <a:off x="8268005" y="2258568"/>
            <a:ext cx="283464" cy="283464"/>
          </a:xfrm>
          <a:prstGeom prst="rect">
            <a:avLst/>
          </a:prstGeom>
        </p:spPr>
      </p:pic>
      <p:sp>
        <p:nvSpPr>
          <p:cNvPr id="17" name="Text 11"/>
          <p:cNvSpPr txBox="1"/>
          <p:nvPr/>
        </p:nvSpPr>
        <p:spPr>
          <a:xfrm>
            <a:off x="8158277" y="2770632"/>
            <a:ext cx="3484778"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Act 3 · Q9–Q12</a:t>
            </a:r>
            <a:endParaRPr lang="en-US" sz="1400" dirty="0"/>
          </a:p>
        </p:txBody>
      </p:sp>
      <p:sp>
        <p:nvSpPr>
          <p:cNvPr id="18" name="Text 12"/>
          <p:cNvSpPr txBox="1"/>
          <p:nvPr/>
        </p:nvSpPr>
        <p:spPr>
          <a:xfrm>
            <a:off x="8158277" y="3081528"/>
            <a:ext cx="3484778" cy="1737360"/>
          </a:xfrm>
          <a:prstGeom prst="rect">
            <a:avLst/>
          </a:prstGeom>
          <a:noFill/>
          <a:ln/>
        </p:spPr>
        <p:txBody>
          <a:bodyPr wrap="square" rtlCol="0" anchor="t"/>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Two estimators of the same quantity: unbiased, precise, and close-to-truth are three different things.</a:t>
            </a:r>
            <a:endParaRPr lang="en-US" sz="1150" dirty="0"/>
          </a:p>
        </p:txBody>
      </p:sp>
      <p:sp>
        <p:nvSpPr>
          <p:cNvPr id="19" name="Shape 13"/>
          <p:cNvSpPr/>
          <p:nvPr/>
        </p:nvSpPr>
        <p:spPr>
          <a:xfrm>
            <a:off x="548640" y="4297680"/>
            <a:ext cx="11094415" cy="1737360"/>
          </a:xfrm>
          <a:prstGeom prst="roundRect">
            <a:avLst>
              <a:gd name="adj" fmla="val 4211"/>
            </a:avLst>
          </a:prstGeom>
          <a:solidFill>
            <a:srgbClr val="1E2761"/>
          </a:solidFill>
          <a:ln/>
          <a:effectLst>
            <a:outerShdw blurRad="101600" dist="38100" dir="5400000" algn="bl" rotWithShape="0">
              <a:srgbClr val="1B1F3B">
                <a:alpha val="18000"/>
              </a:srgbClr>
            </a:outerShdw>
          </a:effectLst>
        </p:spPr>
        <p:txBody>
          <a:bodyPr/>
          <a:lstStyle/>
          <a:p>
            <a:endParaRPr lang="en-US"/>
          </a:p>
        </p:txBody>
      </p:sp>
      <p:pic>
        <p:nvPicPr>
          <p:cNvPr id="20" name="Image 4" descr="/tmp/deck5/icons/door_terracotta.png"/>
          <p:cNvPicPr>
            <a:picLocks noChangeAspect="1"/>
          </p:cNvPicPr>
          <p:nvPr/>
        </p:nvPicPr>
        <p:blipFill>
          <a:blip r:embed="rId7"/>
          <a:stretch>
            <a:fillRect/>
          </a:stretch>
        </p:blipFill>
        <p:spPr>
          <a:xfrm>
            <a:off x="868680" y="4709160"/>
            <a:ext cx="548640" cy="548640"/>
          </a:xfrm>
          <a:prstGeom prst="rect">
            <a:avLst/>
          </a:prstGeom>
        </p:spPr>
      </p:pic>
      <p:sp>
        <p:nvSpPr>
          <p:cNvPr id="21" name="Text 14"/>
          <p:cNvSpPr txBox="1"/>
          <p:nvPr/>
        </p:nvSpPr>
        <p:spPr>
          <a:xfrm>
            <a:off x="1645920" y="4480560"/>
            <a:ext cx="941832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The running example: </a:t>
            </a:r>
            <a:r>
              <a:rPr lang="en-US" sz="1450" b="1" dirty="0" err="1">
                <a:solidFill>
                  <a:srgbClr val="FFFFFF"/>
                </a:solidFill>
                <a:latin typeface="Calibri" pitchFamily="34" charset="0"/>
                <a:ea typeface="Calibri" pitchFamily="34" charset="-122"/>
                <a:cs typeface="Calibri" pitchFamily="34" charset="-120"/>
              </a:rPr>
              <a:t>ACORN's</a:t>
            </a:r>
            <a:r>
              <a:rPr lang="en-US" sz="1450" b="1" dirty="0">
                <a:solidFill>
                  <a:srgbClr val="FFFFFF"/>
                </a:solidFill>
                <a:latin typeface="Calibri" pitchFamily="34" charset="0"/>
                <a:ea typeface="Calibri" pitchFamily="34" charset="-122"/>
                <a:cs typeface="Calibri" pitchFamily="34" charset="-120"/>
              </a:rPr>
              <a:t> canvassing experiment</a:t>
            </a:r>
            <a:endParaRPr lang="en-US" sz="1450" dirty="0"/>
          </a:p>
        </p:txBody>
      </p:sp>
      <p:sp>
        <p:nvSpPr>
          <p:cNvPr id="22" name="Text 15"/>
          <p:cNvSpPr txBox="1"/>
          <p:nvPr/>
        </p:nvSpPr>
        <p:spPr>
          <a:xfrm>
            <a:off x="1645920" y="4892040"/>
            <a:ext cx="9418320" cy="1005840"/>
          </a:xfrm>
          <a:prstGeom prst="rect">
            <a:avLst/>
          </a:prstGeom>
          <a:noFill/>
          <a:ln/>
        </p:spPr>
        <p:txBody>
          <a:bodyPr wrap="square" rtlCol="0" anchor="t"/>
          <a:lstStyle/>
          <a:p>
            <a:pPr marL="0" indent="0">
              <a:buNone/>
            </a:pPr>
            <a:r>
              <a:rPr lang="en-US" sz="1300" dirty="0">
                <a:solidFill>
                  <a:srgbClr val="CADCFC"/>
                </a:solidFill>
                <a:latin typeface="Calibri" pitchFamily="34" charset="0"/>
                <a:ea typeface="Calibri" pitchFamily="34" charset="-122"/>
                <a:cs typeface="Calibri" pitchFamily="34" charset="-120"/>
              </a:rPr>
              <a:t>Kansas City, 2003: 28 precincts, 14 randomly assigned to canvassing ahead of a local tax vote (Arceneaux 2005).</a:t>
            </a:r>
            <a:endParaRPr lang="en-US" sz="1300" dirty="0"/>
          </a:p>
        </p:txBody>
      </p:sp>
      <p:sp>
        <p:nvSpPr>
          <p:cNvPr id="23" name="Text 16"/>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24" name="Text 17"/>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split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CONCEPT</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The fundamental problem of causal inference</a:t>
            </a:r>
            <a:endParaRPr lang="en-US" sz="2700" dirty="0"/>
          </a:p>
        </p:txBody>
      </p:sp>
      <p:sp>
        <p:nvSpPr>
          <p:cNvPr id="6" name="Text 3"/>
          <p:cNvSpPr txBox="1"/>
          <p:nvPr/>
        </p:nvSpPr>
        <p:spPr>
          <a:xfrm>
            <a:off x="548640" y="1554480"/>
            <a:ext cx="5303520" cy="4297680"/>
          </a:xfrm>
          <a:prstGeom prst="rect">
            <a:avLst/>
          </a:prstGeom>
          <a:noFill/>
          <a:ln/>
        </p:spPr>
        <p:txBody>
          <a:bodyPr wrap="square" rtlCol="0" anchor="t"/>
          <a:lstStyle/>
          <a:p>
            <a:pPr marL="228600" indent="-228600">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A causal effect for precinct i compares two potential outcomes:</a:t>
            </a:r>
            <a:endParaRPr lang="en-US" sz="1450" dirty="0"/>
          </a:p>
          <a:p>
            <a:pPr marL="228600" indent="-228600">
              <a:spcAft>
                <a:spcPts val="1000"/>
              </a:spcAft>
              <a:buSzPct val="100000"/>
              <a:buChar char="•"/>
            </a:pPr>
            <a:r>
              <a:rPr lang="en-US" sz="1450" b="1" dirty="0">
                <a:solidFill>
                  <a:srgbClr val="1E2761"/>
                </a:solidFill>
                <a:latin typeface="Calibri" pitchFamily="34" charset="0"/>
                <a:ea typeface="Calibri" pitchFamily="34" charset="-122"/>
                <a:cs typeface="Calibri" pitchFamily="34" charset="-120"/>
              </a:rPr>
              <a:t>Yᵢ(1)  --  turnout if precinct i is canvassed</a:t>
            </a:r>
            <a:endParaRPr lang="en-US" sz="1450" dirty="0"/>
          </a:p>
          <a:p>
            <a:pPr marL="228600" indent="-228600">
              <a:spcAft>
                <a:spcPts val="1000"/>
              </a:spcAft>
              <a:buSzPct val="100000"/>
              <a:buChar char="•"/>
            </a:pPr>
            <a:r>
              <a:rPr lang="en-US" sz="1450" b="1" dirty="0">
                <a:solidFill>
                  <a:srgbClr val="1E2761"/>
                </a:solidFill>
                <a:latin typeface="Calibri" pitchFamily="34" charset="0"/>
                <a:ea typeface="Calibri" pitchFamily="34" charset="-122"/>
                <a:cs typeface="Calibri" pitchFamily="34" charset="-120"/>
              </a:rPr>
              <a:t>Yᵢ(0)  --  turnout if precinct i is not canvassed</a:t>
            </a:r>
            <a:endParaRPr lang="en-US" sz="1450" dirty="0"/>
          </a:p>
          <a:p>
            <a:pPr marL="228600" indent="-228600">
              <a:spcAft>
                <a:spcPts val="1000"/>
              </a:spcAft>
              <a:buSzPct val="100000"/>
              <a:buChar char="•"/>
            </a:pPr>
            <a:r>
              <a:rPr lang="en-US" sz="1450" b="1" dirty="0">
                <a:solidFill>
                  <a:srgbClr val="C1440E"/>
                </a:solidFill>
                <a:latin typeface="Calibri" pitchFamily="34" charset="0"/>
                <a:ea typeface="Calibri" pitchFamily="34" charset="-122"/>
                <a:cs typeface="Calibri" pitchFamily="34" charset="-120"/>
              </a:rPr>
              <a:t>We only ever observe ONE of the two, for any precinct, ever.</a:t>
            </a:r>
            <a:endParaRPr lang="en-US" sz="1450" dirty="0"/>
          </a:p>
          <a:p>
            <a:pPr marL="228600" indent="-228600">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“No causation without manipulation” (Rubin 1975; Imbens &amp; Rubin 2015, Ch.1). A causal claim presumes the same unit could have received a different treatment.</a:t>
            </a:r>
            <a:endParaRPr lang="en-US" sz="1450" dirty="0"/>
          </a:p>
        </p:txBody>
      </p:sp>
      <p:sp>
        <p:nvSpPr>
          <p:cNvPr id="7" name="Shape 4"/>
          <p:cNvSpPr/>
          <p:nvPr/>
        </p:nvSpPr>
        <p:spPr>
          <a:xfrm>
            <a:off x="6400800" y="1600200"/>
            <a:ext cx="5239512" cy="4297680"/>
          </a:xfrm>
          <a:prstGeom prst="roundRect">
            <a:avLst>
              <a:gd name="adj" fmla="val 1702"/>
            </a:avLst>
          </a:prstGeom>
          <a:solidFill>
            <a:srgbClr val="EEF3FC"/>
          </a:solidFill>
          <a:ln/>
          <a:effectLst>
            <a:outerShdw blurRad="101600" dist="38100" dir="5400000" algn="bl" rotWithShape="0">
              <a:srgbClr val="1B1F3B">
                <a:alpha val="18000"/>
              </a:srgbClr>
            </a:outerShdw>
          </a:effectLst>
        </p:spPr>
        <p:txBody>
          <a:bodyPr/>
          <a:lstStyle/>
          <a:p>
            <a:endParaRPr lang="en-US"/>
          </a:p>
        </p:txBody>
      </p:sp>
      <p:sp>
        <p:nvSpPr>
          <p:cNvPr id="8" name="Text 5"/>
          <p:cNvSpPr txBox="1"/>
          <p:nvPr/>
        </p:nvSpPr>
        <p:spPr>
          <a:xfrm>
            <a:off x="6675120" y="1783080"/>
            <a:ext cx="4754880" cy="3200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Gerber &amp; Green's village example</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75120" y="2194560"/>
          <a:ext cx="4663440" cy="2377440"/>
        </p:xfrm>
        <a:graphic>
          <a:graphicData uri="http://schemas.openxmlformats.org/drawingml/2006/table">
            <a:tbl>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96240">
                <a:tc>
                  <a:txBody>
                    <a:bodyPr/>
                    <a:lstStyle/>
                    <a:p>
                      <a:pPr marL="0" indent="0" algn="ctr">
                        <a:buNone/>
                      </a:pPr>
                      <a:r>
                        <a:rPr lang="en-US" sz="1300" b="1" dirty="0">
                          <a:solidFill>
                            <a:srgbClr val="1B1F3B"/>
                          </a:solidFill>
                          <a:latin typeface="Calibri" pitchFamily="34" charset="0"/>
                          <a:ea typeface="Calibri" pitchFamily="34" charset="-122"/>
                          <a:cs typeface="Calibri" pitchFamily="34" charset="-120"/>
                        </a:rPr>
                        <a:t>Precinct</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B1F3B"/>
                          </a:solidFill>
                          <a:latin typeface="Calibri" pitchFamily="34" charset="0"/>
                          <a:ea typeface="Calibri" pitchFamily="34" charset="-122"/>
                          <a:cs typeface="Calibri" pitchFamily="34" charset="-120"/>
                        </a:rPr>
                        <a:t>Y(0)</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B1F3B"/>
                          </a:solidFill>
                          <a:latin typeface="Calibri" pitchFamily="34" charset="0"/>
                          <a:ea typeface="Calibri" pitchFamily="34" charset="-122"/>
                          <a:cs typeface="Calibri" pitchFamily="34" charset="-120"/>
                        </a:rPr>
                        <a:t>Y(1)</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96240">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6240">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6240">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6240">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96240">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Text 6"/>
          <p:cNvSpPr txBox="1"/>
          <p:nvPr/>
        </p:nvSpPr>
        <p:spPr>
          <a:xfrm>
            <a:off x="6675120" y="4709160"/>
            <a:ext cx="4663440" cy="1005840"/>
          </a:xfrm>
          <a:prstGeom prst="rect">
            <a:avLst/>
          </a:prstGeom>
          <a:noFill/>
          <a:ln/>
        </p:spPr>
        <p:txBody>
          <a:bodyPr wrap="square" rtlCol="0" anchor="t"/>
          <a:lstStyle/>
          <a:p>
            <a:pPr marL="0" indent="0">
              <a:buNone/>
            </a:pPr>
            <a:r>
              <a:rPr lang="en-US" sz="1150" i="1" dirty="0">
                <a:solidFill>
                  <a:srgbClr val="6B7280"/>
                </a:solidFill>
                <a:latin typeface="Calibri" pitchFamily="34" charset="0"/>
                <a:ea typeface="Calibri" pitchFamily="34" charset="-122"/>
                <a:cs typeface="Calibri" pitchFamily="34" charset="-120"/>
              </a:rPr>
              <a:t>The “?” cells are never observed</a:t>
            </a:r>
            <a:endParaRPr lang="en-US" sz="1150" dirty="0"/>
          </a:p>
        </p:txBody>
      </p:sp>
      <p:sp>
        <p:nvSpPr>
          <p:cNvPr id="11" name="Text 7"/>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12" name="Text 8"/>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shuffle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CONCEPT</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Random assignment breaks the link on purpose</a:t>
            </a:r>
            <a:endParaRPr lang="en-US" sz="2700" dirty="0"/>
          </a:p>
        </p:txBody>
      </p:sp>
      <p:sp>
        <p:nvSpPr>
          <p:cNvPr id="6" name="Text 3"/>
          <p:cNvSpPr txBox="1"/>
          <p:nvPr/>
        </p:nvSpPr>
        <p:spPr>
          <a:xfrm>
            <a:off x="548640" y="1554480"/>
            <a:ext cx="10515600" cy="4480560"/>
          </a:xfrm>
          <a:prstGeom prst="rect">
            <a:avLst/>
          </a:prstGeom>
          <a:noFill/>
          <a:ln/>
        </p:spPr>
        <p:txBody>
          <a:bodyPr wrap="square" rtlCol="0" anchor="t"/>
          <a:lstStyle/>
          <a:p>
            <a:pPr marL="228600" indent="-228600">
              <a:spcAft>
                <a:spcPts val="1000"/>
              </a:spcAft>
              <a:buSzPct val="100000"/>
              <a:buChar char="•"/>
            </a:pPr>
            <a:r>
              <a:rPr lang="en-US" sz="1500" dirty="0">
                <a:solidFill>
                  <a:srgbClr val="1B1F3B"/>
                </a:solidFill>
                <a:latin typeface="Calibri" pitchFamily="34" charset="0"/>
                <a:ea typeface="Calibri" pitchFamily="34" charset="-122"/>
                <a:cs typeface="Calibri" pitchFamily="34" charset="-120"/>
              </a:rPr>
              <a:t>If organizers picked which precincts to canvass, that choice would track things that also predict turnout-- an endless list of possible confounders (Gerber &amp; Green, Ch.1: the “bottomless pit”).</a:t>
            </a:r>
            <a:endParaRPr lang="en-US" sz="1500" dirty="0"/>
          </a:p>
          <a:p>
            <a:pPr marL="228600" indent="-228600">
              <a:spcAft>
                <a:spcPts val="1000"/>
              </a:spcAft>
              <a:buSzPct val="100000"/>
              <a:buChar char="•"/>
            </a:pPr>
            <a:r>
              <a:rPr lang="en-US" sz="1500" dirty="0">
                <a:solidFill>
                  <a:srgbClr val="1B1F3B"/>
                </a:solidFill>
                <a:latin typeface="Calibri" pitchFamily="34" charset="0"/>
                <a:ea typeface="Calibri" pitchFamily="34" charset="-122"/>
                <a:cs typeface="Calibri" pitchFamily="34" charset="-120"/>
              </a:rPr>
              <a:t>Random assignment makes a precinct's chance of treatment independent of everything about it, observed or not.</a:t>
            </a:r>
            <a:endParaRPr lang="en-US" sz="1500" dirty="0"/>
          </a:p>
          <a:p>
            <a:pPr marL="228600" indent="-228600">
              <a:spcAft>
                <a:spcPts val="1000"/>
              </a:spcAft>
              <a:buSzPct val="100000"/>
              <a:buChar char="•"/>
            </a:pPr>
            <a:r>
              <a:rPr lang="en-US" sz="1600" b="1" dirty="0">
                <a:solidFill>
                  <a:srgbClr val="C1440E"/>
                </a:solidFill>
                <a:latin typeface="Calibri" pitchFamily="34" charset="0"/>
                <a:ea typeface="Calibri" pitchFamily="34" charset="-122"/>
                <a:cs typeface="Calibri" pitchFamily="34" charset="-120"/>
              </a:rPr>
              <a:t>E[ Yᵢ(1) | Dᵢ=1 ]  =  E[ Yᵢ(1) | Dᵢ=0 ]  =  E[ Yᵢ(1) ]</a:t>
            </a:r>
            <a:endParaRPr lang="en-US" sz="1500" dirty="0"/>
          </a:p>
          <a:p>
            <a:pPr marL="228600" indent="-228600">
              <a:spcAft>
                <a:spcPts val="1000"/>
              </a:spcAft>
              <a:buSzPct val="100000"/>
              <a:buChar char="•"/>
            </a:pPr>
            <a:r>
              <a:rPr lang="en-US" sz="1500" dirty="0">
                <a:solidFill>
                  <a:srgbClr val="1B1F3B"/>
                </a:solidFill>
                <a:latin typeface="Calibri" pitchFamily="34" charset="0"/>
                <a:ea typeface="Calibri" pitchFamily="34" charset="-122"/>
                <a:cs typeface="Calibri" pitchFamily="34" charset="-120"/>
              </a:rPr>
              <a:t>In expectation, before treatment happens, the treated and control groups look alike on every characteristic, not for certain on any one draw, but on average across all the ways the coin flip could go.</a:t>
            </a:r>
            <a:endParaRPr lang="en-US" sz="1500" dirty="0"/>
          </a:p>
        </p:txBody>
      </p:sp>
      <p:sp>
        <p:nvSpPr>
          <p:cNvPr id="7" name="Text 4"/>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8" name="Text 5"/>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bullseye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CONCEPT</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Estimand → Estimator → Estimate</a:t>
            </a:r>
            <a:endParaRPr lang="en-US" sz="2700" dirty="0"/>
          </a:p>
        </p:txBody>
      </p:sp>
      <p:sp>
        <p:nvSpPr>
          <p:cNvPr id="6" name="Shape 3"/>
          <p:cNvSpPr/>
          <p:nvPr/>
        </p:nvSpPr>
        <p:spPr>
          <a:xfrm>
            <a:off x="548640" y="1691640"/>
            <a:ext cx="502920" cy="502920"/>
          </a:xfrm>
          <a:prstGeom prst="ellipse">
            <a:avLst/>
          </a:prstGeom>
          <a:solidFill>
            <a:srgbClr val="1E2761"/>
          </a:solidFill>
          <a:ln/>
        </p:spPr>
        <p:txBody>
          <a:bodyPr/>
          <a:lstStyle/>
          <a:p>
            <a:endParaRPr lang="en-US"/>
          </a:p>
        </p:txBody>
      </p:sp>
      <p:pic>
        <p:nvPicPr>
          <p:cNvPr id="7" name="Image 1" descr="/tmp/deck5/icons/bullseye_white.png"/>
          <p:cNvPicPr>
            <a:picLocks noChangeAspect="1"/>
          </p:cNvPicPr>
          <p:nvPr/>
        </p:nvPicPr>
        <p:blipFill>
          <a:blip r:embed="rId3"/>
          <a:stretch>
            <a:fillRect/>
          </a:stretch>
        </p:blipFill>
        <p:spPr>
          <a:xfrm>
            <a:off x="658368" y="1801368"/>
            <a:ext cx="283464" cy="283464"/>
          </a:xfrm>
          <a:prstGeom prst="rect">
            <a:avLst/>
          </a:prstGeom>
        </p:spPr>
      </p:pic>
      <p:sp>
        <p:nvSpPr>
          <p:cNvPr id="8" name="Text 4"/>
          <p:cNvSpPr txBox="1"/>
          <p:nvPr/>
        </p:nvSpPr>
        <p:spPr>
          <a:xfrm>
            <a:off x="548640" y="2313432"/>
            <a:ext cx="3484778"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Estimand</a:t>
            </a:r>
            <a:endParaRPr lang="en-US" sz="1400" dirty="0"/>
          </a:p>
        </p:txBody>
      </p:sp>
      <p:sp>
        <p:nvSpPr>
          <p:cNvPr id="9" name="Text 5"/>
          <p:cNvSpPr txBox="1"/>
          <p:nvPr/>
        </p:nvSpPr>
        <p:spPr>
          <a:xfrm>
            <a:off x="548640" y="2624328"/>
            <a:ext cx="3484778" cy="1737360"/>
          </a:xfrm>
          <a:prstGeom prst="rect">
            <a:avLst/>
          </a:prstGeom>
          <a:noFill/>
          <a:ln/>
        </p:spPr>
        <p:txBody>
          <a:bodyPr wrap="square" rtlCol="0" anchor="t"/>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The fixed, usually-unobservable TARGET. “The true average effect of assignment to canvassing on turnout, across all 28 precincts.”</a:t>
            </a:r>
            <a:endParaRPr lang="en-US" sz="1150" dirty="0"/>
          </a:p>
        </p:txBody>
      </p:sp>
      <p:sp>
        <p:nvSpPr>
          <p:cNvPr id="10" name="Shape 6"/>
          <p:cNvSpPr/>
          <p:nvPr/>
        </p:nvSpPr>
        <p:spPr>
          <a:xfrm>
            <a:off x="4353458" y="1691640"/>
            <a:ext cx="502920" cy="502920"/>
          </a:xfrm>
          <a:prstGeom prst="ellipse">
            <a:avLst/>
          </a:prstGeom>
          <a:solidFill>
            <a:srgbClr val="1E2761"/>
          </a:solidFill>
          <a:ln/>
        </p:spPr>
        <p:txBody>
          <a:bodyPr/>
          <a:lstStyle/>
          <a:p>
            <a:endParaRPr lang="en-US"/>
          </a:p>
        </p:txBody>
      </p:sp>
      <p:pic>
        <p:nvPicPr>
          <p:cNvPr id="11" name="Image 2" descr="/tmp/deck5/icons/calculator_white.png"/>
          <p:cNvPicPr>
            <a:picLocks noChangeAspect="1"/>
          </p:cNvPicPr>
          <p:nvPr/>
        </p:nvPicPr>
        <p:blipFill>
          <a:blip r:embed="rId4"/>
          <a:stretch>
            <a:fillRect/>
          </a:stretch>
        </p:blipFill>
        <p:spPr>
          <a:xfrm>
            <a:off x="4463186" y="1801368"/>
            <a:ext cx="283464" cy="283464"/>
          </a:xfrm>
          <a:prstGeom prst="rect">
            <a:avLst/>
          </a:prstGeom>
        </p:spPr>
      </p:pic>
      <p:sp>
        <p:nvSpPr>
          <p:cNvPr id="12" name="Text 7"/>
          <p:cNvSpPr txBox="1"/>
          <p:nvPr/>
        </p:nvSpPr>
        <p:spPr>
          <a:xfrm>
            <a:off x="4353458" y="2313432"/>
            <a:ext cx="3484778"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Estimator</a:t>
            </a:r>
            <a:endParaRPr lang="en-US" sz="1400" dirty="0"/>
          </a:p>
        </p:txBody>
      </p:sp>
      <p:sp>
        <p:nvSpPr>
          <p:cNvPr id="13" name="Text 8"/>
          <p:cNvSpPr txBox="1"/>
          <p:nvPr/>
        </p:nvSpPr>
        <p:spPr>
          <a:xfrm>
            <a:off x="4353458" y="2624328"/>
            <a:ext cx="3484778" cy="1737360"/>
          </a:xfrm>
          <a:prstGeom prst="rect">
            <a:avLst/>
          </a:prstGeom>
          <a:noFill/>
          <a:ln/>
        </p:spPr>
        <p:txBody>
          <a:bodyPr wrap="square" rtlCol="0" anchor="t"/>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The pre-specified PROCEDURE for guessing at it. “Treated-precinct average minus control-precinct average.” A recipe, reusable on any dataset.</a:t>
            </a:r>
            <a:endParaRPr lang="en-US" sz="1150" dirty="0"/>
          </a:p>
        </p:txBody>
      </p:sp>
      <p:sp>
        <p:nvSpPr>
          <p:cNvPr id="14" name="Shape 9"/>
          <p:cNvSpPr/>
          <p:nvPr/>
        </p:nvSpPr>
        <p:spPr>
          <a:xfrm>
            <a:off x="8158277" y="1691640"/>
            <a:ext cx="502920" cy="502920"/>
          </a:xfrm>
          <a:prstGeom prst="ellipse">
            <a:avLst/>
          </a:prstGeom>
          <a:solidFill>
            <a:srgbClr val="1E2761"/>
          </a:solidFill>
          <a:ln/>
        </p:spPr>
        <p:txBody>
          <a:bodyPr/>
          <a:lstStyle/>
          <a:p>
            <a:endParaRPr lang="en-US"/>
          </a:p>
        </p:txBody>
      </p:sp>
      <p:pic>
        <p:nvPicPr>
          <p:cNvPr id="15" name="Image 3" descr="/tmp/deck5/icons/chartcol_white.png"/>
          <p:cNvPicPr>
            <a:picLocks noChangeAspect="1"/>
          </p:cNvPicPr>
          <p:nvPr/>
        </p:nvPicPr>
        <p:blipFill>
          <a:blip r:embed="rId5"/>
          <a:stretch>
            <a:fillRect/>
          </a:stretch>
        </p:blipFill>
        <p:spPr>
          <a:xfrm>
            <a:off x="8268005" y="1801368"/>
            <a:ext cx="283464" cy="283464"/>
          </a:xfrm>
          <a:prstGeom prst="rect">
            <a:avLst/>
          </a:prstGeom>
        </p:spPr>
      </p:pic>
      <p:sp>
        <p:nvSpPr>
          <p:cNvPr id="16" name="Text 10"/>
          <p:cNvSpPr txBox="1"/>
          <p:nvPr/>
        </p:nvSpPr>
        <p:spPr>
          <a:xfrm>
            <a:off x="8158277" y="2313432"/>
            <a:ext cx="3484778"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Estimate</a:t>
            </a:r>
            <a:endParaRPr lang="en-US" sz="1400" dirty="0"/>
          </a:p>
        </p:txBody>
      </p:sp>
      <p:sp>
        <p:nvSpPr>
          <p:cNvPr id="17" name="Text 11"/>
          <p:cNvSpPr txBox="1"/>
          <p:nvPr/>
        </p:nvSpPr>
        <p:spPr>
          <a:xfrm>
            <a:off x="8158277" y="2624328"/>
            <a:ext cx="3484778" cy="1737360"/>
          </a:xfrm>
          <a:prstGeom prst="rect">
            <a:avLst/>
          </a:prstGeom>
          <a:noFill/>
          <a:ln/>
        </p:spPr>
        <p:txBody>
          <a:bodyPr wrap="square" rtlCol="0" anchor="t"/>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The single NUMBER that procedure produces on this one dataset. 0.036 — 3.6 percentage points, for ACORN's 28 precincts.</a:t>
            </a:r>
            <a:endParaRPr lang="en-US" sz="1150" dirty="0"/>
          </a:p>
        </p:txBody>
      </p:sp>
      <p:sp>
        <p:nvSpPr>
          <p:cNvPr id="18" name="Shape 12"/>
          <p:cNvSpPr/>
          <p:nvPr/>
        </p:nvSpPr>
        <p:spPr>
          <a:xfrm>
            <a:off x="548640" y="3977640"/>
            <a:ext cx="11094415" cy="2057400"/>
          </a:xfrm>
          <a:prstGeom prst="roundRect">
            <a:avLst>
              <a:gd name="adj" fmla="val 3556"/>
            </a:avLst>
          </a:prstGeom>
          <a:solidFill>
            <a:srgbClr val="1E2761"/>
          </a:solidFill>
          <a:ln/>
          <a:effectLst>
            <a:outerShdw blurRad="101600" dist="38100" dir="5400000" algn="bl" rotWithShape="0">
              <a:srgbClr val="1B1F3B">
                <a:alpha val="18000"/>
              </a:srgbClr>
            </a:outerShdw>
          </a:effectLst>
        </p:spPr>
        <p:txBody>
          <a:bodyPr/>
          <a:lstStyle/>
          <a:p>
            <a:endParaRPr lang="en-US"/>
          </a:p>
        </p:txBody>
      </p:sp>
      <p:sp>
        <p:nvSpPr>
          <p:cNvPr id="19" name="Text 13"/>
          <p:cNvSpPr txBox="1"/>
          <p:nvPr/>
        </p:nvSpPr>
        <p:spPr>
          <a:xfrm>
            <a:off x="868680" y="4206240"/>
            <a:ext cx="10241280" cy="457200"/>
          </a:xfrm>
          <a:prstGeom prst="rect">
            <a:avLst/>
          </a:prstGeom>
          <a:noFill/>
          <a:ln/>
        </p:spPr>
        <p:txBody>
          <a:bodyPr wrap="square" rtlCol="0" anchor="ctr"/>
          <a:lstStyle/>
          <a:p>
            <a:pPr marL="0" indent="0">
              <a:buNone/>
            </a:pPr>
            <a:r>
              <a:rPr lang="en-US" sz="1600" b="1" i="1" dirty="0">
                <a:solidFill>
                  <a:srgbClr val="FFFFFF"/>
                </a:solidFill>
                <a:latin typeface="Cambria" pitchFamily="34" charset="0"/>
                <a:ea typeface="Cambria" pitchFamily="34" charset="-122"/>
                <a:cs typeface="Cambria" pitchFamily="34" charset="-120"/>
              </a:rPr>
              <a:t>Only a PROCEDURE (the estimator), not a single number (the estimate) can meaningfully be called “biased” or “unbiased.”</a:t>
            </a:r>
            <a:endParaRPr lang="en-US" sz="1600" dirty="0"/>
          </a:p>
        </p:txBody>
      </p:sp>
      <p:sp>
        <p:nvSpPr>
          <p:cNvPr id="20" name="Text 14"/>
          <p:cNvSpPr txBox="1"/>
          <p:nvPr/>
        </p:nvSpPr>
        <p:spPr>
          <a:xfrm>
            <a:off x="868680" y="4754880"/>
            <a:ext cx="10241280" cy="1097280"/>
          </a:xfrm>
          <a:prstGeom prst="rect">
            <a:avLst/>
          </a:prstGeom>
          <a:noFill/>
          <a:ln/>
        </p:spPr>
        <p:txBody>
          <a:bodyPr wrap="square" rtlCol="0" anchor="t"/>
          <a:lstStyle/>
          <a:p>
            <a:pPr marL="0" indent="0">
              <a:buNone/>
            </a:pPr>
            <a:r>
              <a:rPr lang="en-US" sz="1300" dirty="0">
                <a:solidFill>
                  <a:srgbClr val="CADCFC"/>
                </a:solidFill>
                <a:latin typeface="Calibri" pitchFamily="34" charset="0"/>
                <a:ea typeface="Calibri" pitchFamily="34" charset="-122"/>
                <a:cs typeface="Calibri" pitchFamily="34" charset="-120"/>
              </a:rPr>
              <a:t>Gerber &amp; Green, Box 2.6: “An estimator is a procedure or formula for generating guesses about parameters... The guess that an estimator generates based on a particular experiment is called an estimate.”</a:t>
            </a:r>
            <a:endParaRPr lang="en-US" sz="1300" dirty="0"/>
          </a:p>
        </p:txBody>
      </p:sp>
      <p:sp>
        <p:nvSpPr>
          <p:cNvPr id="21" name="Text 15"/>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22" name="Text 16"/>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scale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CONCEPT</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Unbiasedness, formally</a:t>
            </a:r>
            <a:endParaRPr lang="en-US" sz="2700" dirty="0"/>
          </a:p>
        </p:txBody>
      </p:sp>
      <p:sp>
        <p:nvSpPr>
          <p:cNvPr id="6" name="Text 3"/>
          <p:cNvSpPr txBox="1"/>
          <p:nvPr/>
        </p:nvSpPr>
        <p:spPr>
          <a:xfrm>
            <a:off x="548640" y="1600200"/>
            <a:ext cx="5486400" cy="4389120"/>
          </a:xfrm>
          <a:prstGeom prst="rect">
            <a:avLst/>
          </a:prstGeom>
          <a:noFill/>
          <a:ln/>
        </p:spPr>
        <p:txBody>
          <a:bodyPr wrap="square" rtlCol="0" anchor="t"/>
          <a:lstStyle/>
          <a:p>
            <a:pPr marL="228600" indent="-228600">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An estimator is unbiased if the expected value of the estimates it produces equals the true parameter.</a:t>
            </a:r>
            <a:endParaRPr lang="en-US" sz="1450" dirty="0"/>
          </a:p>
          <a:p>
            <a:pPr marL="228600" indent="-228600">
              <a:spcAft>
                <a:spcPts val="1000"/>
              </a:spcAft>
              <a:buSzPct val="100000"/>
              <a:buChar char="•"/>
            </a:pPr>
            <a:r>
              <a:rPr lang="en-US" sz="2000" b="1" dirty="0">
                <a:solidFill>
                  <a:srgbClr val="C1440E"/>
                </a:solidFill>
                <a:latin typeface="Calibri" pitchFamily="34" charset="0"/>
                <a:ea typeface="Calibri" pitchFamily="34" charset="-122"/>
                <a:cs typeface="Calibri" pitchFamily="34" charset="-120"/>
              </a:rPr>
              <a:t>E[ θ̂ ]  =  θ</a:t>
            </a:r>
            <a:endParaRPr lang="en-US" sz="1450" dirty="0"/>
          </a:p>
          <a:p>
            <a:pPr marL="228600" indent="-228600">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Replicate the experiment infinitely many times, under identical conditions. Some guesses too high, some too low. But the average guess is exactly right.</a:t>
            </a:r>
            <a:endParaRPr lang="en-US" sz="1450" dirty="0"/>
          </a:p>
          <a:p>
            <a:pPr marL="228600" indent="-228600">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Gerber &amp; Green prove this algebraically for the difference-in-means estimator (their eq. 2.14). We reconstruct that proof for ACORN in Q11.</a:t>
            </a:r>
            <a:endParaRPr lang="en-US" sz="1450" dirty="0"/>
          </a:p>
        </p:txBody>
      </p:sp>
      <p:sp>
        <p:nvSpPr>
          <p:cNvPr id="7" name="Shape 4"/>
          <p:cNvSpPr/>
          <p:nvPr/>
        </p:nvSpPr>
        <p:spPr>
          <a:xfrm>
            <a:off x="6492240" y="1645920"/>
            <a:ext cx="5148072" cy="4206240"/>
          </a:xfrm>
          <a:prstGeom prst="roundRect">
            <a:avLst>
              <a:gd name="adj" fmla="val 1739"/>
            </a:avLst>
          </a:prstGeom>
          <a:solidFill>
            <a:srgbClr val="EEF3FC"/>
          </a:solidFill>
          <a:ln/>
          <a:effectLst>
            <a:outerShdw blurRad="101600" dist="38100" dir="5400000" algn="bl" rotWithShape="0">
              <a:srgbClr val="1B1F3B">
                <a:alpha val="18000"/>
              </a:srgbClr>
            </a:outerShdw>
          </a:effectLst>
        </p:spPr>
        <p:txBody>
          <a:bodyPr/>
          <a:lstStyle/>
          <a:p>
            <a:endParaRPr lang="en-US"/>
          </a:p>
        </p:txBody>
      </p:sp>
      <p:sp>
        <p:nvSpPr>
          <p:cNvPr id="8" name="Text 5"/>
          <p:cNvSpPr txBox="1"/>
          <p:nvPr/>
        </p:nvSpPr>
        <p:spPr>
          <a:xfrm>
            <a:off x="6766560" y="1828800"/>
            <a:ext cx="4572000" cy="274320"/>
          </a:xfrm>
          <a:prstGeom prst="rect">
            <a:avLst/>
          </a:prstGeom>
          <a:noFill/>
          <a:ln/>
        </p:spPr>
        <p:txBody>
          <a:bodyPr wrap="square" rtlCol="0" anchor="ctr"/>
          <a:lstStyle/>
          <a:p>
            <a:pPr marL="0" indent="0">
              <a:buNone/>
            </a:pPr>
            <a:r>
              <a:rPr lang="en-US" sz="1150" b="1" kern="0" spc="100" dirty="0">
                <a:solidFill>
                  <a:srgbClr val="C1440E"/>
                </a:solidFill>
                <a:latin typeface="Calibri" pitchFamily="34" charset="0"/>
                <a:ea typeface="Calibri" pitchFamily="34" charset="-122"/>
                <a:cs typeface="Calibri" pitchFamily="34" charset="-120"/>
              </a:rPr>
              <a:t>Box 2.7, Gerber &amp; Green (2012)</a:t>
            </a:r>
            <a:endParaRPr lang="en-US" sz="1150" dirty="0"/>
          </a:p>
        </p:txBody>
      </p:sp>
      <p:sp>
        <p:nvSpPr>
          <p:cNvPr id="9" name="Text 6"/>
          <p:cNvSpPr txBox="1"/>
          <p:nvPr/>
        </p:nvSpPr>
        <p:spPr>
          <a:xfrm>
            <a:off x="6766560" y="2148840"/>
            <a:ext cx="4572000" cy="3566160"/>
          </a:xfrm>
          <a:prstGeom prst="rect">
            <a:avLst/>
          </a:prstGeom>
          <a:noFill/>
          <a:ln/>
        </p:spPr>
        <p:txBody>
          <a:bodyPr wrap="square" rtlCol="0" anchor="t"/>
          <a:lstStyle/>
          <a:p>
            <a:pPr marL="0" indent="0">
              <a:lnSpc>
                <a:spcPct val="125000"/>
              </a:lnSpc>
              <a:buNone/>
            </a:pPr>
            <a:r>
              <a:rPr lang="en-US" sz="1450" i="1" dirty="0">
                <a:solidFill>
                  <a:srgbClr val="1E2761"/>
                </a:solidFill>
                <a:latin typeface="Cambria" pitchFamily="34" charset="0"/>
                <a:ea typeface="Cambria" pitchFamily="34" charset="-122"/>
                <a:cs typeface="Cambria" pitchFamily="34" charset="-120"/>
              </a:rPr>
              <a:t>“We say that θ̂ is unbiased if E(θ̂)=θ; in words, the estimator θ̂ is unbiased if the expected value of this estimator is θ, the parameter of interest... we refer to the estimates generated by an unbiased estimator as ‘unbiased estimates.’”</a:t>
            </a:r>
            <a:endParaRPr lang="en-US" sz="1450" dirty="0"/>
          </a:p>
        </p:txBody>
      </p:sp>
      <p:sp>
        <p:nvSpPr>
          <p:cNvPr id="10" name="Text 7"/>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11" name="Text 8"/>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chartline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CONCEPT</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Unbiased ≠ precise ≠ close to the truth</a:t>
            </a:r>
            <a:endParaRPr lang="en-US" sz="2700" dirty="0"/>
          </a:p>
        </p:txBody>
      </p:sp>
      <p:sp>
        <p:nvSpPr>
          <p:cNvPr id="6" name="Shape 3"/>
          <p:cNvSpPr/>
          <p:nvPr/>
        </p:nvSpPr>
        <p:spPr>
          <a:xfrm>
            <a:off x="0" y="0"/>
            <a:ext cx="12191695" cy="6858000"/>
          </a:xfrm>
          <a:prstGeom prst="rect">
            <a:avLst/>
          </a:prstGeom>
          <a:solidFill>
            <a:srgbClr val="1E2761"/>
          </a:solidFill>
          <a:ln/>
        </p:spPr>
        <p:txBody>
          <a:bodyPr/>
          <a:lstStyle/>
          <a:p>
            <a:endParaRPr lang="en-US"/>
          </a:p>
        </p:txBody>
      </p:sp>
      <p:sp>
        <p:nvSpPr>
          <p:cNvPr id="7" name="Shape 4"/>
          <p:cNvSpPr/>
          <p:nvPr/>
        </p:nvSpPr>
        <p:spPr>
          <a:xfrm>
            <a:off x="548640" y="457200"/>
            <a:ext cx="566928" cy="566928"/>
          </a:xfrm>
          <a:prstGeom prst="ellipse">
            <a:avLst/>
          </a:prstGeom>
          <a:solidFill>
            <a:srgbClr val="C1440E"/>
          </a:solidFill>
          <a:ln/>
        </p:spPr>
        <p:txBody>
          <a:bodyPr/>
          <a:lstStyle/>
          <a:p>
            <a:endParaRPr lang="en-US"/>
          </a:p>
        </p:txBody>
      </p:sp>
      <p:pic>
        <p:nvPicPr>
          <p:cNvPr id="8" name="Image 1" descr="/tmp/deck5/icons/chartline_white.png"/>
          <p:cNvPicPr>
            <a:picLocks noChangeAspect="1"/>
          </p:cNvPicPr>
          <p:nvPr/>
        </p:nvPicPr>
        <p:blipFill>
          <a:blip r:embed="rId3"/>
          <a:stretch>
            <a:fillRect/>
          </a:stretch>
        </p:blipFill>
        <p:spPr>
          <a:xfrm>
            <a:off x="676656" y="585216"/>
            <a:ext cx="310896" cy="310896"/>
          </a:xfrm>
          <a:prstGeom prst="rect">
            <a:avLst/>
          </a:prstGeom>
        </p:spPr>
      </p:pic>
      <p:sp>
        <p:nvSpPr>
          <p:cNvPr id="9" name="Text 5"/>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CONCEPT</a:t>
            </a:r>
            <a:endParaRPr lang="en-US" sz="1250" dirty="0"/>
          </a:p>
        </p:txBody>
      </p:sp>
      <p:sp>
        <p:nvSpPr>
          <p:cNvPr id="10" name="Text 6"/>
          <p:cNvSpPr txBox="1"/>
          <p:nvPr/>
        </p:nvSpPr>
        <p:spPr>
          <a:xfrm>
            <a:off x="1325880" y="658368"/>
            <a:ext cx="9601200" cy="566928"/>
          </a:xfrm>
          <a:prstGeom prst="rect">
            <a:avLst/>
          </a:prstGeom>
          <a:noFill/>
          <a:ln/>
        </p:spPr>
        <p:txBody>
          <a:bodyPr wrap="square"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Unbiased ≠ precise ≠ close to the truth</a:t>
            </a:r>
            <a:endParaRPr lang="en-US" sz="2700" dirty="0"/>
          </a:p>
        </p:txBody>
      </p:sp>
      <p:sp>
        <p:nvSpPr>
          <p:cNvPr id="11" name="Shape 7"/>
          <p:cNvSpPr/>
          <p:nvPr/>
        </p:nvSpPr>
        <p:spPr>
          <a:xfrm>
            <a:off x="548640" y="1691640"/>
            <a:ext cx="3246120" cy="2834640"/>
          </a:xfrm>
          <a:prstGeom prst="roundRect">
            <a:avLst>
              <a:gd name="adj" fmla="val 2903"/>
            </a:avLst>
          </a:prstGeom>
          <a:solidFill>
            <a:srgbClr val="141A44"/>
          </a:solidFill>
          <a:ln w="12700">
            <a:solidFill>
              <a:srgbClr val="334B94"/>
            </a:solidFill>
            <a:prstDash val="solid"/>
          </a:ln>
        </p:spPr>
        <p:txBody>
          <a:bodyPr/>
          <a:lstStyle/>
          <a:p>
            <a:endParaRPr lang="en-US"/>
          </a:p>
        </p:txBody>
      </p:sp>
      <p:sp>
        <p:nvSpPr>
          <p:cNvPr id="12" name="Text 8"/>
          <p:cNvSpPr txBox="1"/>
          <p:nvPr/>
        </p:nvSpPr>
        <p:spPr>
          <a:xfrm>
            <a:off x="777240" y="1874520"/>
            <a:ext cx="2788920" cy="457200"/>
          </a:xfrm>
          <a:prstGeom prst="rect">
            <a:avLst/>
          </a:prstGeom>
          <a:noFill/>
          <a:ln/>
        </p:spPr>
        <p:txBody>
          <a:bodyPr wrap="square" rtlCol="0" anchor="ctr"/>
          <a:lstStyle/>
          <a:p>
            <a:pPr marL="0" indent="0">
              <a:buNone/>
            </a:pPr>
            <a:r>
              <a:rPr lang="en-US" sz="1800" b="1" dirty="0">
                <a:solidFill>
                  <a:srgbClr val="C1440E"/>
                </a:solidFill>
                <a:latin typeface="Cambria" pitchFamily="34" charset="0"/>
                <a:ea typeface="Cambria" pitchFamily="34" charset="-122"/>
                <a:cs typeface="Cambria" pitchFamily="34" charset="-120"/>
              </a:rPr>
              <a:t>Unbiased</a:t>
            </a:r>
            <a:endParaRPr lang="en-US" sz="1800" dirty="0"/>
          </a:p>
        </p:txBody>
      </p:sp>
      <p:sp>
        <p:nvSpPr>
          <p:cNvPr id="13" name="Text 9"/>
          <p:cNvSpPr txBox="1"/>
          <p:nvPr/>
        </p:nvSpPr>
        <p:spPr>
          <a:xfrm>
            <a:off x="777240" y="2377440"/>
            <a:ext cx="2788920" cy="2011680"/>
          </a:xfrm>
          <a:prstGeom prst="rect">
            <a:avLst/>
          </a:prstGeom>
          <a:noFill/>
          <a:ln/>
        </p:spPr>
        <p:txBody>
          <a:bodyPr wrap="square" rtlCol="0" anchor="t"/>
          <a:lstStyle/>
          <a:p>
            <a:pPr marL="0" indent="0">
              <a:lnSpc>
                <a:spcPct val="120000"/>
              </a:lnSpc>
              <a:buNone/>
            </a:pPr>
            <a:r>
              <a:rPr lang="en-US" sz="1300" dirty="0">
                <a:solidFill>
                  <a:srgbClr val="CADCFC"/>
                </a:solidFill>
                <a:latin typeface="Calibri" pitchFamily="34" charset="0"/>
                <a:ea typeface="Calibri" pitchFamily="34" charset="-122"/>
                <a:cs typeface="Calibri" pitchFamily="34" charset="-120"/>
              </a:rPr>
              <a:t>Right on average, across hypothetical repetitions of the design. Says nothing about any one estimate.</a:t>
            </a:r>
            <a:endParaRPr lang="en-US" sz="1300" dirty="0"/>
          </a:p>
        </p:txBody>
      </p:sp>
      <p:sp>
        <p:nvSpPr>
          <p:cNvPr id="14" name="Shape 10"/>
          <p:cNvSpPr/>
          <p:nvPr/>
        </p:nvSpPr>
        <p:spPr>
          <a:xfrm>
            <a:off x="4114800" y="1691640"/>
            <a:ext cx="3246120" cy="2834640"/>
          </a:xfrm>
          <a:prstGeom prst="roundRect">
            <a:avLst>
              <a:gd name="adj" fmla="val 2903"/>
            </a:avLst>
          </a:prstGeom>
          <a:solidFill>
            <a:srgbClr val="141A44"/>
          </a:solidFill>
          <a:ln w="12700">
            <a:solidFill>
              <a:srgbClr val="334B94"/>
            </a:solidFill>
            <a:prstDash val="solid"/>
          </a:ln>
        </p:spPr>
        <p:txBody>
          <a:bodyPr/>
          <a:lstStyle/>
          <a:p>
            <a:endParaRPr lang="en-US"/>
          </a:p>
        </p:txBody>
      </p:sp>
      <p:sp>
        <p:nvSpPr>
          <p:cNvPr id="15" name="Text 11"/>
          <p:cNvSpPr txBox="1"/>
          <p:nvPr/>
        </p:nvSpPr>
        <p:spPr>
          <a:xfrm>
            <a:off x="4343400" y="1874520"/>
            <a:ext cx="2788920" cy="457200"/>
          </a:xfrm>
          <a:prstGeom prst="rect">
            <a:avLst/>
          </a:prstGeom>
          <a:noFill/>
          <a:ln/>
        </p:spPr>
        <p:txBody>
          <a:bodyPr wrap="square" rtlCol="0" anchor="ctr"/>
          <a:lstStyle/>
          <a:p>
            <a:pPr marL="0" indent="0">
              <a:buNone/>
            </a:pPr>
            <a:r>
              <a:rPr lang="en-US" sz="1800" b="1" dirty="0">
                <a:solidFill>
                  <a:srgbClr val="C1440E"/>
                </a:solidFill>
                <a:latin typeface="Cambria" pitchFamily="34" charset="0"/>
                <a:ea typeface="Cambria" pitchFamily="34" charset="-122"/>
                <a:cs typeface="Cambria" pitchFamily="34" charset="-120"/>
              </a:rPr>
              <a:t>Precise</a:t>
            </a:r>
            <a:endParaRPr lang="en-US" sz="1800" dirty="0"/>
          </a:p>
        </p:txBody>
      </p:sp>
      <p:sp>
        <p:nvSpPr>
          <p:cNvPr id="16" name="Text 12"/>
          <p:cNvSpPr txBox="1"/>
          <p:nvPr/>
        </p:nvSpPr>
        <p:spPr>
          <a:xfrm>
            <a:off x="4343400" y="2377440"/>
            <a:ext cx="2788920" cy="2011680"/>
          </a:xfrm>
          <a:prstGeom prst="rect">
            <a:avLst/>
          </a:prstGeom>
          <a:noFill/>
          <a:ln/>
        </p:spPr>
        <p:txBody>
          <a:bodyPr wrap="square" rtlCol="0" anchor="t"/>
          <a:lstStyle/>
          <a:p>
            <a:pPr marL="0" indent="0">
              <a:lnSpc>
                <a:spcPct val="120000"/>
              </a:lnSpc>
              <a:buNone/>
            </a:pPr>
            <a:r>
              <a:rPr lang="en-US" sz="1300" dirty="0">
                <a:solidFill>
                  <a:srgbClr val="CADCFC"/>
                </a:solidFill>
                <a:latin typeface="Calibri" pitchFamily="34" charset="0"/>
                <a:ea typeface="Calibri" pitchFamily="34" charset="-122"/>
                <a:cs typeface="Calibri" pitchFamily="34" charset="-120"/>
              </a:rPr>
              <a:t>A small spread (sd_estimate) across those repetitions. Estimates cluster tightly, wherever they're centered.</a:t>
            </a:r>
            <a:endParaRPr lang="en-US" sz="1300" dirty="0"/>
          </a:p>
        </p:txBody>
      </p:sp>
      <p:sp>
        <p:nvSpPr>
          <p:cNvPr id="17" name="Shape 13"/>
          <p:cNvSpPr/>
          <p:nvPr/>
        </p:nvSpPr>
        <p:spPr>
          <a:xfrm>
            <a:off x="7680960" y="1691640"/>
            <a:ext cx="3246120" cy="2834640"/>
          </a:xfrm>
          <a:prstGeom prst="roundRect">
            <a:avLst>
              <a:gd name="adj" fmla="val 2903"/>
            </a:avLst>
          </a:prstGeom>
          <a:solidFill>
            <a:srgbClr val="141A44"/>
          </a:solidFill>
          <a:ln w="12700">
            <a:solidFill>
              <a:srgbClr val="334B94"/>
            </a:solidFill>
            <a:prstDash val="solid"/>
          </a:ln>
        </p:spPr>
        <p:txBody>
          <a:bodyPr/>
          <a:lstStyle/>
          <a:p>
            <a:endParaRPr lang="en-US"/>
          </a:p>
        </p:txBody>
      </p:sp>
      <p:sp>
        <p:nvSpPr>
          <p:cNvPr id="18" name="Text 14"/>
          <p:cNvSpPr txBox="1"/>
          <p:nvPr/>
        </p:nvSpPr>
        <p:spPr>
          <a:xfrm>
            <a:off x="7909560" y="1874520"/>
            <a:ext cx="2788920" cy="457200"/>
          </a:xfrm>
          <a:prstGeom prst="rect">
            <a:avLst/>
          </a:prstGeom>
          <a:noFill/>
          <a:ln/>
        </p:spPr>
        <p:txBody>
          <a:bodyPr wrap="square" rtlCol="0" anchor="ctr"/>
          <a:lstStyle/>
          <a:p>
            <a:pPr marL="0" indent="0">
              <a:buNone/>
            </a:pPr>
            <a:r>
              <a:rPr lang="en-US" sz="1800" b="1" dirty="0">
                <a:solidFill>
                  <a:srgbClr val="C1440E"/>
                </a:solidFill>
                <a:latin typeface="Cambria" pitchFamily="34" charset="0"/>
                <a:ea typeface="Cambria" pitchFamily="34" charset="-122"/>
                <a:cs typeface="Cambria" pitchFamily="34" charset="-120"/>
              </a:rPr>
              <a:t>Close to truth</a:t>
            </a:r>
            <a:endParaRPr lang="en-US" sz="1800" dirty="0"/>
          </a:p>
        </p:txBody>
      </p:sp>
      <p:sp>
        <p:nvSpPr>
          <p:cNvPr id="19" name="Text 15"/>
          <p:cNvSpPr txBox="1"/>
          <p:nvPr/>
        </p:nvSpPr>
        <p:spPr>
          <a:xfrm>
            <a:off x="7909560" y="2377440"/>
            <a:ext cx="2788920" cy="2011680"/>
          </a:xfrm>
          <a:prstGeom prst="rect">
            <a:avLst/>
          </a:prstGeom>
          <a:noFill/>
          <a:ln/>
        </p:spPr>
        <p:txBody>
          <a:bodyPr wrap="square" rtlCol="0" anchor="t"/>
          <a:lstStyle/>
          <a:p>
            <a:pPr marL="0" indent="0">
              <a:lnSpc>
                <a:spcPct val="120000"/>
              </a:lnSpc>
              <a:buNone/>
            </a:pPr>
            <a:r>
              <a:rPr lang="en-US" sz="1300" dirty="0">
                <a:solidFill>
                  <a:srgbClr val="CADCFC"/>
                </a:solidFill>
                <a:latin typeface="Calibri" pitchFamily="34" charset="0"/>
                <a:ea typeface="Calibri" pitchFamily="34" charset="-122"/>
                <a:cs typeface="Calibri" pitchFamily="34" charset="-120"/>
              </a:rPr>
              <a:t>Low </a:t>
            </a:r>
            <a:r>
              <a:rPr lang="en-US" sz="1300" dirty="0" err="1">
                <a:solidFill>
                  <a:srgbClr val="CADCFC"/>
                </a:solidFill>
                <a:latin typeface="Calibri" pitchFamily="34" charset="0"/>
                <a:ea typeface="Calibri" pitchFamily="34" charset="-122"/>
                <a:cs typeface="Calibri" pitchFamily="34" charset="-120"/>
              </a:rPr>
              <a:t>RMSE</a:t>
            </a:r>
            <a:r>
              <a:rPr lang="en-US" sz="1300" dirty="0">
                <a:solidFill>
                  <a:srgbClr val="CADCFC"/>
                </a:solidFill>
                <a:latin typeface="Calibri" pitchFamily="34" charset="0"/>
                <a:ea typeface="Calibri" pitchFamily="34" charset="-122"/>
                <a:cs typeface="Calibri" pitchFamily="34" charset="-120"/>
              </a:rPr>
              <a:t>. Combines bias AND spread. A biased-but-precise estimator can beat an unbiased-but-noisy one.</a:t>
            </a:r>
            <a:endParaRPr lang="en-US" sz="1300" dirty="0"/>
          </a:p>
        </p:txBody>
      </p:sp>
      <p:sp>
        <p:nvSpPr>
          <p:cNvPr id="20" name="Text 16"/>
          <p:cNvSpPr txBox="1"/>
          <p:nvPr/>
        </p:nvSpPr>
        <p:spPr>
          <a:xfrm>
            <a:off x="548640" y="4846320"/>
            <a:ext cx="10424160" cy="822960"/>
          </a:xfrm>
          <a:prstGeom prst="rect">
            <a:avLst/>
          </a:prstGeom>
          <a:noFill/>
          <a:ln/>
        </p:spPr>
        <p:txBody>
          <a:bodyPr wrap="square" rtlCol="0" anchor="ctr"/>
          <a:lstStyle/>
          <a:p>
            <a:pPr marL="0" indent="0">
              <a:buNone/>
            </a:pPr>
            <a:r>
              <a:rPr lang="en-US" sz="1350" i="1" dirty="0">
                <a:solidFill>
                  <a:srgbClr val="CADCFC"/>
                </a:solidFill>
                <a:latin typeface="Calibri" pitchFamily="34" charset="0"/>
                <a:ea typeface="Calibri" pitchFamily="34" charset="-122"/>
                <a:cs typeface="Calibri" pitchFamily="34" charset="-120"/>
              </a:rPr>
              <a:t>Act 3 (Q9–Q12) races two real estimators against a KNOWN truth to make this point.</a:t>
            </a:r>
            <a:endParaRPr lang="en-US" sz="1350" dirty="0"/>
          </a:p>
        </p:txBody>
      </p:sp>
      <p:sp>
        <p:nvSpPr>
          <p:cNvPr id="21" name="Text 17"/>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22" name="Text 18"/>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door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THE DATA</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ACORN's 2003 Kansas City canvassing experiment</a:t>
            </a:r>
            <a:endParaRPr lang="en-US" sz="2700" dirty="0"/>
          </a:p>
        </p:txBody>
      </p:sp>
      <p:sp>
        <p:nvSpPr>
          <p:cNvPr id="6" name="Text 3"/>
          <p:cNvSpPr txBox="1"/>
          <p:nvPr/>
        </p:nvSpPr>
        <p:spPr>
          <a:xfrm>
            <a:off x="548640" y="1600200"/>
            <a:ext cx="5394960" cy="4297680"/>
          </a:xfrm>
          <a:prstGeom prst="rect">
            <a:avLst/>
          </a:prstGeom>
          <a:noFill/>
          <a:ln/>
        </p:spPr>
        <p:txBody>
          <a:bodyPr wrap="square" rtlCol="0" anchor="t"/>
          <a:lstStyle/>
          <a:p>
            <a:pPr marL="228600" indent="-228600">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Arceneaux (2005), “Using Cluster Randomized Field Experiments to Study Voting Behavior.”</a:t>
            </a:r>
            <a:endParaRPr lang="en-US" sz="1450" dirty="0"/>
          </a:p>
          <a:p>
            <a:pPr marL="228600" indent="-228600">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ACORN canvassed door-to-door. Educating voters about a proposed tax and encouraging turnout.</a:t>
            </a:r>
            <a:endParaRPr lang="en-US" sz="1450" dirty="0"/>
          </a:p>
          <a:p>
            <a:pPr marL="228600" indent="-228600">
              <a:spcAft>
                <a:spcPts val="1000"/>
              </a:spcAft>
              <a:buSzPct val="100000"/>
              <a:buChar char="•"/>
            </a:pPr>
            <a:r>
              <a:rPr lang="en-US" sz="1450" b="1" dirty="0">
                <a:solidFill>
                  <a:srgbClr val="1B1F3B"/>
                </a:solidFill>
                <a:latin typeface="Calibri" pitchFamily="34" charset="0"/>
                <a:ea typeface="Calibri" pitchFamily="34" charset="-122"/>
                <a:cs typeface="Calibri" pitchFamily="34" charset="-120"/>
              </a:rPr>
              <a:t>Cluster-randomized: the PRECINCT, not the person, is the unit of assignment.</a:t>
            </a:r>
            <a:endParaRPr lang="en-US" sz="1450" dirty="0"/>
          </a:p>
          <a:p>
            <a:pPr marL="228600" indent="-228600">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28 precincts total. 14 assigned to canvassing, 14 to control (complete random assignment, Gerber &amp; Green Box 2.5).</a:t>
            </a:r>
            <a:endParaRPr lang="en-US" sz="1450" dirty="0"/>
          </a:p>
        </p:txBody>
      </p:sp>
      <p:sp>
        <p:nvSpPr>
          <p:cNvPr id="7" name="Shape 4"/>
          <p:cNvSpPr/>
          <p:nvPr/>
        </p:nvSpPr>
        <p:spPr>
          <a:xfrm>
            <a:off x="6537960" y="1691640"/>
            <a:ext cx="2331720" cy="1417320"/>
          </a:xfrm>
          <a:prstGeom prst="roundRect">
            <a:avLst>
              <a:gd name="adj" fmla="val 5161"/>
            </a:avLst>
          </a:prstGeom>
          <a:solidFill>
            <a:srgbClr val="EEF3FC"/>
          </a:solidFill>
          <a:ln/>
          <a:effectLst>
            <a:outerShdw blurRad="101600" dist="38100" dir="5400000" algn="bl" rotWithShape="0">
              <a:srgbClr val="1B1F3B">
                <a:alpha val="18000"/>
              </a:srgbClr>
            </a:outerShdw>
          </a:effectLst>
        </p:spPr>
        <p:txBody>
          <a:bodyPr/>
          <a:lstStyle/>
          <a:p>
            <a:endParaRPr lang="en-US"/>
          </a:p>
        </p:txBody>
      </p:sp>
      <p:sp>
        <p:nvSpPr>
          <p:cNvPr id="8" name="Text 5"/>
          <p:cNvSpPr txBox="1"/>
          <p:nvPr/>
        </p:nvSpPr>
        <p:spPr>
          <a:xfrm>
            <a:off x="6629400" y="1801368"/>
            <a:ext cx="2148840" cy="822046"/>
          </a:xfrm>
          <a:prstGeom prst="rect">
            <a:avLst/>
          </a:prstGeom>
          <a:noFill/>
          <a:ln/>
        </p:spPr>
        <p:txBody>
          <a:bodyPr wrap="square" rtlCol="0" anchor="b"/>
          <a:lstStyle/>
          <a:p>
            <a:pPr marL="0" indent="0" algn="ctr">
              <a:buNone/>
            </a:pPr>
            <a:r>
              <a:rPr lang="en-US" sz="3000" b="1" dirty="0">
                <a:solidFill>
                  <a:srgbClr val="1E2761"/>
                </a:solidFill>
                <a:latin typeface="Cambria" pitchFamily="34" charset="0"/>
                <a:ea typeface="Cambria" pitchFamily="34" charset="-122"/>
                <a:cs typeface="Cambria" pitchFamily="34" charset="-120"/>
              </a:rPr>
              <a:t>28</a:t>
            </a:r>
            <a:endParaRPr lang="en-US" sz="3000" dirty="0"/>
          </a:p>
        </p:txBody>
      </p:sp>
      <p:sp>
        <p:nvSpPr>
          <p:cNvPr id="9" name="Text 6"/>
          <p:cNvSpPr txBox="1"/>
          <p:nvPr/>
        </p:nvSpPr>
        <p:spPr>
          <a:xfrm>
            <a:off x="6647688" y="2570378"/>
            <a:ext cx="2112264" cy="481889"/>
          </a:xfrm>
          <a:prstGeom prst="rect">
            <a:avLst/>
          </a:prstGeom>
          <a:noFill/>
          <a:ln/>
        </p:spPr>
        <p:txBody>
          <a:bodyPr wrap="square"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precincts total</a:t>
            </a:r>
            <a:endParaRPr lang="en-US" sz="1100" dirty="0"/>
          </a:p>
        </p:txBody>
      </p:sp>
      <p:sp>
        <p:nvSpPr>
          <p:cNvPr id="10" name="Shape 7"/>
          <p:cNvSpPr/>
          <p:nvPr/>
        </p:nvSpPr>
        <p:spPr>
          <a:xfrm>
            <a:off x="9052560" y="1691640"/>
            <a:ext cx="2331720" cy="1417320"/>
          </a:xfrm>
          <a:prstGeom prst="roundRect">
            <a:avLst>
              <a:gd name="adj" fmla="val 5161"/>
            </a:avLst>
          </a:prstGeom>
          <a:solidFill>
            <a:srgbClr val="EEF3FC"/>
          </a:solidFill>
          <a:ln/>
          <a:effectLst>
            <a:outerShdw blurRad="101600" dist="38100" dir="5400000" algn="bl" rotWithShape="0">
              <a:srgbClr val="1B1F3B">
                <a:alpha val="18000"/>
              </a:srgbClr>
            </a:outerShdw>
          </a:effectLst>
        </p:spPr>
        <p:txBody>
          <a:bodyPr/>
          <a:lstStyle/>
          <a:p>
            <a:endParaRPr lang="en-US"/>
          </a:p>
        </p:txBody>
      </p:sp>
      <p:sp>
        <p:nvSpPr>
          <p:cNvPr id="11" name="Text 8"/>
          <p:cNvSpPr txBox="1"/>
          <p:nvPr/>
        </p:nvSpPr>
        <p:spPr>
          <a:xfrm>
            <a:off x="9144000" y="1801368"/>
            <a:ext cx="2148840" cy="822046"/>
          </a:xfrm>
          <a:prstGeom prst="rect">
            <a:avLst/>
          </a:prstGeom>
          <a:noFill/>
          <a:ln/>
        </p:spPr>
        <p:txBody>
          <a:bodyPr wrap="square" rtlCol="0" anchor="b"/>
          <a:lstStyle/>
          <a:p>
            <a:pPr marL="0" indent="0" algn="ctr">
              <a:buNone/>
            </a:pPr>
            <a:r>
              <a:rPr lang="en-US" sz="3000" b="1" dirty="0">
                <a:solidFill>
                  <a:srgbClr val="1E2761"/>
                </a:solidFill>
                <a:latin typeface="Cambria" pitchFamily="34" charset="0"/>
                <a:ea typeface="Cambria" pitchFamily="34" charset="-122"/>
                <a:cs typeface="Cambria" pitchFamily="34" charset="-120"/>
              </a:rPr>
              <a:t>14 / 14</a:t>
            </a:r>
            <a:endParaRPr lang="en-US" sz="3000" dirty="0"/>
          </a:p>
        </p:txBody>
      </p:sp>
      <p:sp>
        <p:nvSpPr>
          <p:cNvPr id="12" name="Text 9"/>
          <p:cNvSpPr txBox="1"/>
          <p:nvPr/>
        </p:nvSpPr>
        <p:spPr>
          <a:xfrm>
            <a:off x="9162288" y="2570378"/>
            <a:ext cx="2112264" cy="481889"/>
          </a:xfrm>
          <a:prstGeom prst="rect">
            <a:avLst/>
          </a:prstGeom>
          <a:noFill/>
          <a:ln/>
        </p:spPr>
        <p:txBody>
          <a:bodyPr wrap="square"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treated / control</a:t>
            </a:r>
            <a:endParaRPr lang="en-US" sz="1100" dirty="0"/>
          </a:p>
        </p:txBody>
      </p:sp>
      <p:sp>
        <p:nvSpPr>
          <p:cNvPr id="13" name="Shape 10"/>
          <p:cNvSpPr/>
          <p:nvPr/>
        </p:nvSpPr>
        <p:spPr>
          <a:xfrm>
            <a:off x="6537960" y="3291840"/>
            <a:ext cx="2331720" cy="1417320"/>
          </a:xfrm>
          <a:prstGeom prst="roundRect">
            <a:avLst>
              <a:gd name="adj" fmla="val 5161"/>
            </a:avLst>
          </a:prstGeom>
          <a:solidFill>
            <a:srgbClr val="EEF3FC"/>
          </a:solidFill>
          <a:ln/>
          <a:effectLst>
            <a:outerShdw blurRad="101600" dist="38100" dir="5400000" algn="bl" rotWithShape="0">
              <a:srgbClr val="1B1F3B">
                <a:alpha val="18000"/>
              </a:srgbClr>
            </a:outerShdw>
          </a:effectLst>
        </p:spPr>
        <p:txBody>
          <a:bodyPr/>
          <a:lstStyle/>
          <a:p>
            <a:endParaRPr lang="en-US"/>
          </a:p>
        </p:txBody>
      </p:sp>
      <p:sp>
        <p:nvSpPr>
          <p:cNvPr id="14" name="Text 11"/>
          <p:cNvSpPr txBox="1"/>
          <p:nvPr/>
        </p:nvSpPr>
        <p:spPr>
          <a:xfrm>
            <a:off x="6629400" y="3401568"/>
            <a:ext cx="2148840" cy="822046"/>
          </a:xfrm>
          <a:prstGeom prst="rect">
            <a:avLst/>
          </a:prstGeom>
          <a:noFill/>
          <a:ln/>
        </p:spPr>
        <p:txBody>
          <a:bodyPr wrap="square" rtlCol="0" anchor="b"/>
          <a:lstStyle/>
          <a:p>
            <a:pPr marL="0" indent="0" algn="ctr">
              <a:buNone/>
            </a:pPr>
            <a:r>
              <a:rPr lang="en-US" sz="3000" b="1" dirty="0">
                <a:solidFill>
                  <a:srgbClr val="1E2761"/>
                </a:solidFill>
                <a:latin typeface="Cambria" pitchFamily="34" charset="0"/>
                <a:ea typeface="Cambria" pitchFamily="34" charset="-122"/>
                <a:cs typeface="Cambria" pitchFamily="34" charset="-120"/>
              </a:rPr>
              <a:t>347</a:t>
            </a:r>
            <a:endParaRPr lang="en-US" sz="3000" dirty="0"/>
          </a:p>
        </p:txBody>
      </p:sp>
      <p:sp>
        <p:nvSpPr>
          <p:cNvPr id="15" name="Text 12"/>
          <p:cNvSpPr txBox="1"/>
          <p:nvPr/>
        </p:nvSpPr>
        <p:spPr>
          <a:xfrm>
            <a:off x="6647688" y="4170578"/>
            <a:ext cx="2112264" cy="481889"/>
          </a:xfrm>
          <a:prstGeom prst="rect">
            <a:avLst/>
          </a:prstGeom>
          <a:noFill/>
          <a:ln/>
        </p:spPr>
        <p:txBody>
          <a:bodyPr wrap="square"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avg. registered voters / precinct</a:t>
            </a:r>
            <a:endParaRPr lang="en-US" sz="1100" dirty="0"/>
          </a:p>
        </p:txBody>
      </p:sp>
      <p:sp>
        <p:nvSpPr>
          <p:cNvPr id="16" name="Shape 13"/>
          <p:cNvSpPr/>
          <p:nvPr/>
        </p:nvSpPr>
        <p:spPr>
          <a:xfrm>
            <a:off x="9052560" y="3291840"/>
            <a:ext cx="2331720" cy="1417320"/>
          </a:xfrm>
          <a:prstGeom prst="roundRect">
            <a:avLst>
              <a:gd name="adj" fmla="val 5161"/>
            </a:avLst>
          </a:prstGeom>
          <a:solidFill>
            <a:srgbClr val="EEF3FC"/>
          </a:solidFill>
          <a:ln/>
          <a:effectLst>
            <a:outerShdw blurRad="101600" dist="38100" dir="5400000" algn="bl" rotWithShape="0">
              <a:srgbClr val="1B1F3B">
                <a:alpha val="18000"/>
              </a:srgbClr>
            </a:outerShdw>
          </a:effectLst>
        </p:spPr>
        <p:txBody>
          <a:bodyPr/>
          <a:lstStyle/>
          <a:p>
            <a:endParaRPr lang="en-US"/>
          </a:p>
        </p:txBody>
      </p:sp>
      <p:sp>
        <p:nvSpPr>
          <p:cNvPr id="17" name="Text 14"/>
          <p:cNvSpPr txBox="1"/>
          <p:nvPr/>
        </p:nvSpPr>
        <p:spPr>
          <a:xfrm>
            <a:off x="9144000" y="3401568"/>
            <a:ext cx="2148840" cy="822046"/>
          </a:xfrm>
          <a:prstGeom prst="rect">
            <a:avLst/>
          </a:prstGeom>
          <a:noFill/>
          <a:ln/>
        </p:spPr>
        <p:txBody>
          <a:bodyPr wrap="square" rtlCol="0" anchor="b"/>
          <a:lstStyle/>
          <a:p>
            <a:pPr marL="0" indent="0" algn="ctr">
              <a:buNone/>
            </a:pPr>
            <a:r>
              <a:rPr lang="en-US" sz="3000" b="1" dirty="0">
                <a:solidFill>
                  <a:srgbClr val="1E2761"/>
                </a:solidFill>
                <a:latin typeface="Cambria" pitchFamily="34" charset="0"/>
                <a:ea typeface="Cambria" pitchFamily="34" charset="-122"/>
                <a:cs typeface="Cambria" pitchFamily="34" charset="-120"/>
              </a:rPr>
              <a:t>16–78%</a:t>
            </a:r>
            <a:endParaRPr lang="en-US" sz="3000" dirty="0"/>
          </a:p>
        </p:txBody>
      </p:sp>
      <p:sp>
        <p:nvSpPr>
          <p:cNvPr id="18" name="Text 15"/>
          <p:cNvSpPr txBox="1"/>
          <p:nvPr/>
        </p:nvSpPr>
        <p:spPr>
          <a:xfrm>
            <a:off x="9162288" y="4170578"/>
            <a:ext cx="2112264" cy="481889"/>
          </a:xfrm>
          <a:prstGeom prst="rect">
            <a:avLst/>
          </a:prstGeom>
          <a:noFill/>
          <a:ln/>
        </p:spPr>
        <p:txBody>
          <a:bodyPr wrap="square"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range of contact rates (treated)</a:t>
            </a:r>
            <a:endParaRPr lang="en-US" sz="1100" dirty="0"/>
          </a:p>
        </p:txBody>
      </p:sp>
      <p:sp>
        <p:nvSpPr>
          <p:cNvPr id="19" name="Text 16"/>
          <p:cNvSpPr txBox="1"/>
          <p:nvPr/>
        </p:nvSpPr>
        <p:spPr>
          <a:xfrm>
            <a:off x="6537960" y="4892040"/>
            <a:ext cx="4846320" cy="1005840"/>
          </a:xfrm>
          <a:prstGeom prst="rect">
            <a:avLst/>
          </a:prstGeom>
          <a:noFill/>
          <a:ln/>
        </p:spPr>
        <p:txBody>
          <a:bodyPr wrap="square" rtlCol="0" anchor="t"/>
          <a:lstStyle/>
          <a:p>
            <a:pPr marL="0" indent="0">
              <a:buNone/>
            </a:pPr>
            <a:r>
              <a:rPr lang="en-US" sz="1200" i="1" dirty="0">
                <a:solidFill>
                  <a:srgbClr val="6B7280"/>
                </a:solidFill>
                <a:latin typeface="Calibri" pitchFamily="34" charset="0"/>
                <a:ea typeface="Calibri" pitchFamily="34" charset="-122"/>
                <a:cs typeface="Calibri" pitchFamily="34" charset="-120"/>
              </a:rPr>
              <a:t>Why cluster-randomize? Canvassers work a precinct at a time. Door-to-door effort can't be targeted at named individuals the way a mailer can.</a:t>
            </a:r>
            <a:endParaRPr lang="en-US" sz="1200" dirty="0"/>
          </a:p>
        </p:txBody>
      </p:sp>
      <p:sp>
        <p:nvSpPr>
          <p:cNvPr id="20" name="Text 17"/>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21" name="Text 18"/>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chartcol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THE DATA</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What's in acorn03.csv</a:t>
            </a:r>
            <a:endParaRPr lang="en-US" sz="2700" dirty="0"/>
          </a:p>
        </p:txBody>
      </p:sp>
      <p:graphicFrame>
        <p:nvGraphicFramePr>
          <p:cNvPr id="11" name="Table 0"/>
          <p:cNvGraphicFramePr>
            <a:graphicFrameLocks noGrp="1"/>
          </p:cNvGraphicFramePr>
          <p:nvPr>
            <p:extLst>
              <p:ext uri="{D42A27DB-BD31-4B8C-83A1-F6EECF244321}">
                <p14:modId xmlns:p14="http://schemas.microsoft.com/office/powerpoint/2010/main" val="1600111937"/>
              </p:ext>
            </p:extLst>
          </p:nvPr>
        </p:nvGraphicFramePr>
        <p:xfrm>
          <a:off x="548640" y="1600200"/>
          <a:ext cx="11091672" cy="4334256"/>
        </p:xfrm>
        <a:graphic>
          <a:graphicData uri="http://schemas.openxmlformats.org/drawingml/2006/table">
            <a:tbl>
              <a:tblPr/>
              <a:tblGrid>
                <a:gridCol w="2377440">
                  <a:extLst>
                    <a:ext uri="{9D8B030D-6E8A-4147-A177-3AD203B41FA5}">
                      <a16:colId xmlns:a16="http://schemas.microsoft.com/office/drawing/2014/main" val="20000"/>
                    </a:ext>
                  </a:extLst>
                </a:gridCol>
                <a:gridCol w="8714232">
                  <a:extLst>
                    <a:ext uri="{9D8B030D-6E8A-4147-A177-3AD203B41FA5}">
                      <a16:colId xmlns:a16="http://schemas.microsoft.com/office/drawing/2014/main" val="20001"/>
                    </a:ext>
                  </a:extLst>
                </a:gridCol>
              </a:tblGrid>
              <a:tr h="45720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Variable</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is</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1B1F3B"/>
                          </a:solidFill>
                          <a:latin typeface="Calibri" pitchFamily="34" charset="0"/>
                          <a:ea typeface="Calibri" pitchFamily="34" charset="-122"/>
                          <a:cs typeface="Calibri" pitchFamily="34" charset="-120"/>
                        </a:rPr>
                        <a:t>z</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buNone/>
                      </a:pPr>
                      <a:r>
                        <a:rPr lang="en-US" sz="1300" dirty="0">
                          <a:solidFill>
                            <a:srgbClr val="1B1F3B"/>
                          </a:solidFill>
                          <a:latin typeface="Calibri" pitchFamily="34" charset="0"/>
                          <a:ea typeface="Calibri" pitchFamily="34" charset="-122"/>
                          <a:cs typeface="Calibri" pitchFamily="34" charset="-120"/>
                        </a:rPr>
                        <a:t>Treatment: 1 = assigned to canvassing, 0 = not</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marL="0" indent="0">
                        <a:buNone/>
                      </a:pPr>
                      <a:r>
                        <a:rPr lang="en-US" sz="1300" b="1" dirty="0">
                          <a:solidFill>
                            <a:srgbClr val="1B1F3B"/>
                          </a:solidFill>
                          <a:latin typeface="Calibri" pitchFamily="34" charset="0"/>
                          <a:ea typeface="Calibri" pitchFamily="34" charset="-122"/>
                          <a:cs typeface="Calibri" pitchFamily="34" charset="-120"/>
                        </a:rPr>
                        <a:t>vote03</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tc>
                  <a:txBody>
                    <a:bodyPr/>
                    <a:lstStyle/>
                    <a:p>
                      <a:pPr marL="0" indent="0">
                        <a:buNone/>
                      </a:pPr>
                      <a:r>
                        <a:rPr lang="en-US" sz="1300" dirty="0">
                          <a:solidFill>
                            <a:srgbClr val="1B1F3B"/>
                          </a:solidFill>
                          <a:latin typeface="Calibri" pitchFamily="34" charset="0"/>
                          <a:ea typeface="Calibri" pitchFamily="34" charset="-122"/>
                          <a:cs typeface="Calibri" pitchFamily="34" charset="-120"/>
                        </a:rPr>
                        <a:t>OUTCOME. Turnout share in the Nov. 2003 tax-measure election</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960120">
                <a:tc>
                  <a:txBody>
                    <a:bodyPr/>
                    <a:lstStyle/>
                    <a:p>
                      <a:pPr marL="0" indent="0">
                        <a:buNone/>
                      </a:pPr>
                      <a:r>
                        <a:rPr lang="en-US" sz="1300" b="1" dirty="0">
                          <a:solidFill>
                            <a:srgbClr val="1B1F3B"/>
                          </a:solidFill>
                          <a:latin typeface="Calibri" pitchFamily="34" charset="0"/>
                          <a:ea typeface="Calibri" pitchFamily="34" charset="-122"/>
                          <a:cs typeface="Calibri" pitchFamily="34" charset="-120"/>
                        </a:rPr>
                        <a:t>contact</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buNone/>
                      </a:pPr>
                      <a:r>
                        <a:rPr lang="en-US" sz="1300" dirty="0">
                          <a:solidFill>
                            <a:srgbClr val="1B1F3B"/>
                          </a:solidFill>
                          <a:latin typeface="Calibri" pitchFamily="34" charset="0"/>
                          <a:ea typeface="Calibri" pitchFamily="34" charset="-122"/>
                          <a:cs typeface="Calibri" pitchFamily="34" charset="-120"/>
                        </a:rPr>
                        <a:t>Share of voters actually reached. 0 for all controls; 0.16–0.78 for treated. This is an ITT, not a TOT, effect</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rgbClr val="1B1F3B"/>
                          </a:solidFill>
                          <a:latin typeface="Calibri" pitchFamily="34" charset="0"/>
                          <a:ea typeface="Calibri" pitchFamily="34" charset="-122"/>
                          <a:cs typeface="Calibri" pitchFamily="34" charset="-120"/>
                        </a:rPr>
                        <a:t>size</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tc>
                  <a:txBody>
                    <a:bodyPr/>
                    <a:lstStyle/>
                    <a:p>
                      <a:pPr marL="0" indent="0">
                        <a:buNone/>
                      </a:pPr>
                      <a:r>
                        <a:rPr lang="en-US" sz="1300" dirty="0">
                          <a:solidFill>
                            <a:srgbClr val="1B1F3B"/>
                          </a:solidFill>
                          <a:latin typeface="Calibri" pitchFamily="34" charset="0"/>
                          <a:ea typeface="Calibri" pitchFamily="34" charset="-122"/>
                          <a:cs typeface="Calibri" pitchFamily="34" charset="-120"/>
                        </a:rPr>
                        <a:t>Registered voters in the precinct</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960120">
                <a:tc>
                  <a:txBody>
                    <a:bodyPr/>
                    <a:lstStyle/>
                    <a:p>
                      <a:pPr marL="0" indent="0">
                        <a:buNone/>
                      </a:pPr>
                      <a:r>
                        <a:rPr lang="en-US" sz="1300" b="1" dirty="0">
                          <a:solidFill>
                            <a:srgbClr val="1B1F3B"/>
                          </a:solidFill>
                          <a:latin typeface="Calibri" pitchFamily="34" charset="0"/>
                          <a:ea typeface="Calibri" pitchFamily="34" charset="-122"/>
                          <a:cs typeface="Calibri" pitchFamily="34" charset="-120"/>
                        </a:rPr>
                        <a:t>v_&lt;type&gt;&lt;year&gt;</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buNone/>
                      </a:pPr>
                      <a:r>
                        <a:rPr lang="en-US" sz="1300" dirty="0">
                          <a:solidFill>
                            <a:srgbClr val="1B1F3B"/>
                          </a:solidFill>
                          <a:latin typeface="Calibri" pitchFamily="34" charset="0"/>
                          <a:ea typeface="Calibri" pitchFamily="34" charset="-122"/>
                          <a:cs typeface="Calibri" pitchFamily="34" charset="-120"/>
                        </a:rPr>
                        <a:t>20 PRE-TREATMENT covariates. Turnout in past elections, 1996–2003 (g=general, p=primary, m=municipal, s=special)</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3"/>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8" name="Text 4"/>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people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Q1</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Explain the benefit of random assignment</a:t>
            </a:r>
            <a:endParaRPr lang="en-US" sz="2700" dirty="0"/>
          </a:p>
        </p:txBody>
      </p:sp>
      <p:sp>
        <p:nvSpPr>
          <p:cNvPr id="6" name="Text 3"/>
          <p:cNvSpPr txBox="1"/>
          <p:nvPr/>
        </p:nvSpPr>
        <p:spPr>
          <a:xfrm>
            <a:off x="548640" y="1554480"/>
            <a:ext cx="10515600" cy="4572000"/>
          </a:xfrm>
          <a:prstGeom prst="rect">
            <a:avLst/>
          </a:prstGeom>
          <a:noFill/>
          <a:ln/>
        </p:spPr>
        <p:txBody>
          <a:bodyPr wrap="square" rtlCol="0" anchor="t"/>
          <a:lstStyle/>
          <a:p>
            <a:pPr marL="228600" indent="-228600">
              <a:spcAft>
                <a:spcPts val="1000"/>
              </a:spcAft>
              <a:buSzPct val="100000"/>
              <a:buChar char="•"/>
            </a:pPr>
            <a:r>
              <a:rPr lang="en-US" sz="1450" b="1" dirty="0">
                <a:solidFill>
                  <a:srgbClr val="1B1F3B"/>
                </a:solidFill>
                <a:latin typeface="Calibri" pitchFamily="34" charset="0"/>
                <a:ea typeface="Calibri" pitchFamily="34" charset="-122"/>
                <a:cs typeface="Calibri" pitchFamily="34" charset="-120"/>
              </a:rPr>
              <a:t>The move: translate “independence of potential outcomes” into a sentence a canvassing director would actually accept.</a:t>
            </a:r>
            <a:endParaRPr lang="en-US" sz="1450" dirty="0"/>
          </a:p>
          <a:p>
            <a:pPr marL="228600" indent="-228600">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“If your captains had picked which precincts to canvass, that choice would track things that ALSO predict turnout. More-engaged precincts, ones a captain knew well. We could never fully rule that out.”</a:t>
            </a:r>
            <a:endParaRPr lang="en-US" sz="1450" dirty="0"/>
          </a:p>
          <a:p>
            <a:pPr marL="228600" indent="-228600">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“A coin flip doesn't have opinions about which precincts are already primed to vote. Before canvassing happened, treated and control precincts looked alike, on average, on everything, measured or not.”</a:t>
            </a:r>
            <a:endParaRPr lang="en-US" sz="1450" dirty="0"/>
          </a:p>
          <a:p>
            <a:pPr marL="228600" indent="-228600">
              <a:spcAft>
                <a:spcPts val="1000"/>
              </a:spcAft>
              <a:buSzPct val="100000"/>
              <a:buChar char="•"/>
            </a:pPr>
            <a:r>
              <a:rPr lang="en-US" sz="1250" dirty="0">
                <a:solidFill>
                  <a:srgbClr val="6B7280"/>
                </a:solidFill>
                <a:latin typeface="Calibri" pitchFamily="34" charset="0"/>
                <a:ea typeface="Calibri" pitchFamily="34" charset="-122"/>
                <a:cs typeface="Calibri" pitchFamily="34" charset="-120"/>
              </a:rPr>
              <a:t>This argument predates potential-outcomes notation, Fisher and Neyman made it in the 1920s–30s (Brady 2008).</a:t>
            </a:r>
            <a:endParaRPr lang="en-US" sz="1450" dirty="0"/>
          </a:p>
        </p:txBody>
      </p:sp>
      <p:sp>
        <p:nvSpPr>
          <p:cNvPr id="7" name="Text 4"/>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8" name="Text 5"/>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code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Q2</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The “funky” covariate-balance code</a:t>
            </a:r>
            <a:endParaRPr lang="en-US" sz="2700" dirty="0"/>
          </a:p>
        </p:txBody>
      </p:sp>
      <p:sp>
        <p:nvSpPr>
          <p:cNvPr id="6" name="Shape 3"/>
          <p:cNvSpPr/>
          <p:nvPr/>
        </p:nvSpPr>
        <p:spPr>
          <a:xfrm>
            <a:off x="548640" y="1554480"/>
            <a:ext cx="5486400" cy="1920240"/>
          </a:xfrm>
          <a:prstGeom prst="roundRect">
            <a:avLst>
              <a:gd name="adj" fmla="val 2857"/>
            </a:avLst>
          </a:prstGeom>
          <a:solidFill>
            <a:srgbClr val="141A44"/>
          </a:solidFill>
          <a:ln/>
        </p:spPr>
        <p:txBody>
          <a:bodyPr/>
          <a:lstStyle/>
          <a:p>
            <a:endParaRPr lang="en-US"/>
          </a:p>
        </p:txBody>
      </p:sp>
      <p:sp>
        <p:nvSpPr>
          <p:cNvPr id="7" name="Text 4"/>
          <p:cNvSpPr txBox="1"/>
          <p:nvPr/>
        </p:nvSpPr>
        <p:spPr>
          <a:xfrm>
            <a:off x="777240" y="1737360"/>
            <a:ext cx="5029200" cy="1554480"/>
          </a:xfrm>
          <a:prstGeom prst="rect">
            <a:avLst/>
          </a:prstGeom>
          <a:noFill/>
          <a:ln/>
        </p:spPr>
        <p:txBody>
          <a:bodyPr wrap="square" rtlCol="0" anchor="t"/>
          <a:lstStyle/>
          <a:p>
            <a:pPr marL="0" indent="0">
              <a:buNone/>
            </a:pPr>
            <a:r>
              <a:rPr lang="en-US" sz="1400" dirty="0">
                <a:solidFill>
                  <a:srgbClr val="9FB3E8"/>
                </a:solidFill>
                <a:latin typeface="Courier New" pitchFamily="34" charset="0"/>
                <a:ea typeface="Courier New" pitchFamily="34" charset="-122"/>
                <a:cs typeface="Courier New" pitchFamily="34" charset="-120"/>
              </a:rPr>
              <a:t>mean_diff &lt;- function(x, z) {
</a:t>
            </a:r>
            <a:r>
              <a:rPr lang="en-US" sz="1400" dirty="0">
                <a:solidFill>
                  <a:srgbClr val="FFFFFF"/>
                </a:solidFill>
                <a:latin typeface="Courier New" pitchFamily="34" charset="0"/>
                <a:ea typeface="Courier New" pitchFamily="34" charset="-122"/>
                <a:cs typeface="Courier New" pitchFamily="34" charset="-120"/>
              </a:rPr>
              <a:t>  mean(x[z == 1] - mean(x[z == 0]))
</a:t>
            </a:r>
            <a:r>
              <a:rPr lang="en-US" sz="1400" dirty="0">
                <a:solidFill>
                  <a:srgbClr val="9FB3E8"/>
                </a:solidFill>
                <a:latin typeface="Courier New" pitchFamily="34" charset="0"/>
                <a:ea typeface="Courier New" pitchFamily="34" charset="-122"/>
                <a:cs typeface="Courier New" pitchFamily="34" charset="-120"/>
              </a:rPr>
              <a:t>}</a:t>
            </a:r>
            <a:endParaRPr lang="en-US" sz="1400" dirty="0"/>
          </a:p>
        </p:txBody>
      </p:sp>
      <p:sp>
        <p:nvSpPr>
          <p:cNvPr id="8" name="Text 5"/>
          <p:cNvSpPr txBox="1"/>
          <p:nvPr/>
        </p:nvSpPr>
        <p:spPr>
          <a:xfrm>
            <a:off x="548640" y="3703320"/>
            <a:ext cx="5486400" cy="2194560"/>
          </a:xfrm>
          <a:prstGeom prst="rect">
            <a:avLst/>
          </a:prstGeom>
          <a:noFill/>
          <a:ln/>
        </p:spPr>
        <p:txBody>
          <a:bodyPr wrap="square" rtlCol="0" anchor="t"/>
          <a:lstStyle/>
          <a:p>
            <a:pPr marL="228600" indent="-228600">
              <a:spcAft>
                <a:spcPts val="1000"/>
              </a:spcAft>
              <a:buSzPct val="100000"/>
              <a:buChar char="•"/>
            </a:pPr>
            <a:r>
              <a:rPr lang="en-US" sz="1300" dirty="0">
                <a:solidFill>
                  <a:srgbClr val="1B1F3B"/>
                </a:solidFill>
                <a:latin typeface="Calibri" pitchFamily="34" charset="0"/>
                <a:ea typeface="Calibri" pitchFamily="34" charset="-122"/>
                <a:cs typeface="Calibri" pitchFamily="34" charset="-120"/>
              </a:rPr>
              <a:t>Reads inside-out: mean(x[z==0]) is ONE number (control mean); subtracting it from every treated value, then averaging, still equals the ordinary difference in means, subtracting a constant commutes with averaging.</a:t>
            </a:r>
            <a:endParaRPr lang="en-US" sz="1300" dirty="0"/>
          </a:p>
          <a:p>
            <a:pPr marL="228600" indent="-228600">
              <a:spcAft>
                <a:spcPts val="1000"/>
              </a:spcAft>
              <a:buSzPct val="100000"/>
              <a:buChar char="•"/>
            </a:pPr>
            <a:r>
              <a:rPr lang="en-US" sz="1300" b="1" dirty="0">
                <a:solidFill>
                  <a:srgbClr val="C1440E"/>
                </a:solidFill>
                <a:latin typeface="Calibri" pitchFamily="34" charset="0"/>
                <a:ea typeface="Calibri" pitchFamily="34" charset="-122"/>
                <a:cs typeface="Calibri" pitchFamily="34" charset="-120"/>
              </a:rPr>
              <a:t>Cleaner rewrite:  mean(x[z==1]) - mean(x[z==0])</a:t>
            </a:r>
            <a:endParaRPr lang="en-US" sz="1300" dirty="0"/>
          </a:p>
        </p:txBody>
      </p:sp>
      <p:sp>
        <p:nvSpPr>
          <p:cNvPr id="9" name="Shape 6"/>
          <p:cNvSpPr/>
          <p:nvPr/>
        </p:nvSpPr>
        <p:spPr>
          <a:xfrm>
            <a:off x="6537960" y="1554480"/>
            <a:ext cx="5148072" cy="4343400"/>
          </a:xfrm>
          <a:prstGeom prst="roundRect">
            <a:avLst>
              <a:gd name="adj" fmla="val 1684"/>
            </a:avLst>
          </a:prstGeom>
          <a:solidFill>
            <a:srgbClr val="EEF3FC"/>
          </a:solidFill>
          <a:ln/>
          <a:effectLst>
            <a:outerShdw blurRad="101600" dist="38100" dir="5400000" algn="bl" rotWithShape="0">
              <a:srgbClr val="1B1F3B">
                <a:alpha val="18000"/>
              </a:srgbClr>
            </a:outerShdw>
          </a:effectLst>
        </p:spPr>
        <p:txBody>
          <a:bodyPr/>
          <a:lstStyle/>
          <a:p>
            <a:endParaRPr lang="en-US"/>
          </a:p>
        </p:txBody>
      </p:sp>
      <p:sp>
        <p:nvSpPr>
          <p:cNvPr id="10" name="Text 7"/>
          <p:cNvSpPr txBox="1"/>
          <p:nvPr/>
        </p:nvSpPr>
        <p:spPr>
          <a:xfrm>
            <a:off x="6766560" y="1737360"/>
            <a:ext cx="4663440" cy="3200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What it produces, sorted by |gap|</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766560" y="2148840"/>
          <a:ext cx="4663440" cy="1828800"/>
        </p:xfrm>
        <a:graphic>
          <a:graphicData uri="http://schemas.openxmlformats.org/drawingml/2006/table">
            <a:tbl>
              <a:tblPr/>
              <a:tblGrid>
                <a:gridCol w="233172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tblGrid>
              <a:tr h="365760">
                <a:tc>
                  <a:txBody>
                    <a:bodyPr/>
                    <a:lstStyle/>
                    <a:p>
                      <a:pPr marL="0" indent="0" algn="ctr">
                        <a:buNone/>
                      </a:pPr>
                      <a:r>
                        <a:rPr lang="en-US" sz="1300" dirty="0">
                          <a:solidFill>
                            <a:srgbClr val="1B1F3B"/>
                          </a:solidFill>
                          <a:latin typeface="Courier New" pitchFamily="34" charset="0"/>
                          <a:ea typeface="Courier New" pitchFamily="34" charset="-122"/>
                          <a:cs typeface="Courier New" pitchFamily="34" charset="-120"/>
                        </a:rPr>
                        <a:t>size</a:t>
                      </a:r>
                      <a:endParaRPr lang="en-US" sz="1300" dirty="0">
                        <a:latin typeface="Courier New" charset="0"/>
                        <a:ea typeface="Courier New" charset="0"/>
                        <a:cs typeface="Courier New"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F3B"/>
                          </a:solidFill>
                          <a:latin typeface="Courier New" pitchFamily="34" charset="0"/>
                          <a:ea typeface="Courier New" pitchFamily="34" charset="-122"/>
                          <a:cs typeface="Courier New" pitchFamily="34" charset="-120"/>
                        </a:rPr>
                        <a:t>+11.0</a:t>
                      </a:r>
                      <a:endParaRPr lang="en-US" sz="1300" dirty="0">
                        <a:latin typeface="Courier New" charset="0"/>
                        <a:ea typeface="Courier New" charset="0"/>
                        <a:cs typeface="Courier New"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5760">
                <a:tc>
                  <a:txBody>
                    <a:bodyPr/>
                    <a:lstStyle/>
                    <a:p>
                      <a:pPr marL="0" indent="0" algn="ctr">
                        <a:buNone/>
                      </a:pPr>
                      <a:r>
                        <a:rPr lang="en-US" sz="1300" dirty="0">
                          <a:solidFill>
                            <a:srgbClr val="1B1F3B"/>
                          </a:solidFill>
                          <a:latin typeface="Courier New" pitchFamily="34" charset="0"/>
                          <a:ea typeface="Courier New" pitchFamily="34" charset="-122"/>
                          <a:cs typeface="Courier New" pitchFamily="34" charset="-120"/>
                        </a:rPr>
                        <a:t>v_m2003</a:t>
                      </a:r>
                      <a:endParaRPr lang="en-US" sz="1300" dirty="0">
                        <a:latin typeface="Courier New" charset="0"/>
                        <a:ea typeface="Courier New" charset="0"/>
                        <a:cs typeface="Courier New"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F3B"/>
                          </a:solidFill>
                          <a:latin typeface="Courier New" pitchFamily="34" charset="0"/>
                          <a:ea typeface="Courier New" pitchFamily="34" charset="-122"/>
                          <a:cs typeface="Courier New" pitchFamily="34" charset="-120"/>
                        </a:rPr>
                        <a:t>−0.0231</a:t>
                      </a:r>
                      <a:endParaRPr lang="en-US" sz="1300" dirty="0">
                        <a:latin typeface="Courier New" charset="0"/>
                        <a:ea typeface="Courier New" charset="0"/>
                        <a:cs typeface="Courier New"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1300" dirty="0">
                          <a:solidFill>
                            <a:srgbClr val="1B1F3B"/>
                          </a:solidFill>
                          <a:latin typeface="Courier New" pitchFamily="34" charset="0"/>
                          <a:ea typeface="Courier New" pitchFamily="34" charset="-122"/>
                          <a:cs typeface="Courier New" pitchFamily="34" charset="-120"/>
                        </a:rPr>
                        <a:t>v_g2002</a:t>
                      </a:r>
                      <a:endParaRPr lang="en-US" sz="1300" dirty="0">
                        <a:latin typeface="Courier New" charset="0"/>
                        <a:ea typeface="Courier New" charset="0"/>
                        <a:cs typeface="Courier New"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F3B"/>
                          </a:solidFill>
                          <a:latin typeface="Courier New" pitchFamily="34" charset="0"/>
                          <a:ea typeface="Courier New" pitchFamily="34" charset="-122"/>
                          <a:cs typeface="Courier New" pitchFamily="34" charset="-120"/>
                        </a:rPr>
                        <a:t>−0.0211</a:t>
                      </a:r>
                      <a:endParaRPr lang="en-US" sz="1300" dirty="0">
                        <a:latin typeface="Courier New" charset="0"/>
                        <a:ea typeface="Courier New" charset="0"/>
                        <a:cs typeface="Courier New"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ctr">
                        <a:buNone/>
                      </a:pPr>
                      <a:r>
                        <a:rPr lang="en-US" sz="1300" dirty="0">
                          <a:solidFill>
                            <a:srgbClr val="1B1F3B"/>
                          </a:solidFill>
                          <a:latin typeface="Courier New" pitchFamily="34" charset="0"/>
                          <a:ea typeface="Courier New" pitchFamily="34" charset="-122"/>
                          <a:cs typeface="Courier New" pitchFamily="34" charset="-120"/>
                        </a:rPr>
                        <a:t>v_g1996</a:t>
                      </a:r>
                      <a:endParaRPr lang="en-US" sz="1300" dirty="0">
                        <a:latin typeface="Courier New" charset="0"/>
                        <a:ea typeface="Courier New" charset="0"/>
                        <a:cs typeface="Courier New"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F3B"/>
                          </a:solidFill>
                          <a:latin typeface="Courier New" pitchFamily="34" charset="0"/>
                          <a:ea typeface="Courier New" pitchFamily="34" charset="-122"/>
                          <a:cs typeface="Courier New" pitchFamily="34" charset="-120"/>
                        </a:rPr>
                        <a:t>−0.0132</a:t>
                      </a:r>
                      <a:endParaRPr lang="en-US" sz="1300" dirty="0">
                        <a:latin typeface="Courier New" charset="0"/>
                        <a:ea typeface="Courier New" charset="0"/>
                        <a:cs typeface="Courier New"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lang="en-US" sz="1300" dirty="0">
                          <a:solidFill>
                            <a:srgbClr val="1B1F3B"/>
                          </a:solidFill>
                          <a:latin typeface="Courier New" pitchFamily="34" charset="0"/>
                          <a:ea typeface="Courier New" pitchFamily="34" charset="-122"/>
                          <a:cs typeface="Courier New" pitchFamily="34" charset="-120"/>
                        </a:rPr>
                        <a:t>v_g1998</a:t>
                      </a:r>
                      <a:endParaRPr lang="en-US" sz="1300" dirty="0">
                        <a:latin typeface="Courier New" charset="0"/>
                        <a:ea typeface="Courier New" charset="0"/>
                        <a:cs typeface="Courier New"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1F3B"/>
                          </a:solidFill>
                          <a:latin typeface="Courier New" pitchFamily="34" charset="0"/>
                          <a:ea typeface="Courier New" pitchFamily="34" charset="-122"/>
                          <a:cs typeface="Courier New" pitchFamily="34" charset="-120"/>
                        </a:rPr>
                        <a:t>+0.0118</a:t>
                      </a:r>
                      <a:endParaRPr lang="en-US" sz="1300" dirty="0">
                        <a:latin typeface="Courier New" charset="0"/>
                        <a:ea typeface="Courier New" charset="0"/>
                        <a:cs typeface="Courier New"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2" name="Text 8"/>
          <p:cNvSpPr txBox="1"/>
          <p:nvPr/>
        </p:nvSpPr>
        <p:spPr>
          <a:xfrm>
            <a:off x="6766560" y="4206240"/>
            <a:ext cx="4663440" cy="73152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These are exactly the two numbers ACORN's reps push back on in Q3.</a:t>
            </a:r>
            <a:endParaRPr lang="en-US" sz="1200" dirty="0"/>
          </a:p>
        </p:txBody>
      </p:sp>
      <p:sp>
        <p:nvSpPr>
          <p:cNvPr id="11" name="Text 9"/>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14" name="Text 10"/>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flask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Q3</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Did randomization fail?</a:t>
            </a:r>
            <a:endParaRPr lang="en-US" sz="2700" dirty="0"/>
          </a:p>
        </p:txBody>
      </p:sp>
      <p:sp>
        <p:nvSpPr>
          <p:cNvPr id="6" name="Text 3"/>
          <p:cNvSpPr txBox="1"/>
          <p:nvPr/>
        </p:nvSpPr>
        <p:spPr>
          <a:xfrm>
            <a:off x="548640" y="1463040"/>
            <a:ext cx="10515600" cy="502920"/>
          </a:xfrm>
          <a:prstGeom prst="rect">
            <a:avLst/>
          </a:prstGeom>
          <a:noFill/>
          <a:ln/>
        </p:spPr>
        <p:txBody>
          <a:bodyPr wrap="square" rtlCol="0" anchor="ctr"/>
          <a:lstStyle/>
          <a:p>
            <a:pPr marL="0" indent="0">
              <a:buNone/>
            </a:pPr>
            <a:r>
              <a:rPr lang="en-US" sz="1600" i="1" dirty="0">
                <a:solidFill>
                  <a:srgbClr val="1E2761"/>
                </a:solidFill>
                <a:latin typeface="Cambria" pitchFamily="34" charset="0"/>
                <a:ea typeface="Cambria" pitchFamily="34" charset="-122"/>
                <a:cs typeface="Cambria" pitchFamily="34" charset="-120"/>
              </a:rPr>
              <a:t>“Treated precincts had 2.3 pts lower 2003 turnout, and were larger by 11 people. Did something go wrong?”</a:t>
            </a:r>
            <a:endParaRPr lang="en-US" sz="1600" dirty="0"/>
          </a:p>
        </p:txBody>
      </p:sp>
      <p:sp>
        <p:nvSpPr>
          <p:cNvPr id="7" name="Shape 4"/>
          <p:cNvSpPr/>
          <p:nvPr/>
        </p:nvSpPr>
        <p:spPr>
          <a:xfrm>
            <a:off x="548640" y="2194560"/>
            <a:ext cx="3291840" cy="1737360"/>
          </a:xfrm>
          <a:prstGeom prst="roundRect">
            <a:avLst>
              <a:gd name="adj" fmla="val 4211"/>
            </a:avLst>
          </a:prstGeom>
          <a:solidFill>
            <a:srgbClr val="EEF3FC"/>
          </a:solidFill>
          <a:ln/>
          <a:effectLst>
            <a:outerShdw blurRad="101600" dist="38100" dir="5400000" algn="bl" rotWithShape="0">
              <a:srgbClr val="1B1F3B">
                <a:alpha val="18000"/>
              </a:srgbClr>
            </a:outerShdw>
          </a:effectLst>
        </p:spPr>
        <p:txBody>
          <a:bodyPr/>
          <a:lstStyle/>
          <a:p>
            <a:endParaRPr lang="en-US"/>
          </a:p>
        </p:txBody>
      </p:sp>
      <p:sp>
        <p:nvSpPr>
          <p:cNvPr id="8" name="Text 5"/>
          <p:cNvSpPr txBox="1"/>
          <p:nvPr/>
        </p:nvSpPr>
        <p:spPr>
          <a:xfrm>
            <a:off x="640080" y="2304288"/>
            <a:ext cx="3108960" cy="1007669"/>
          </a:xfrm>
          <a:prstGeom prst="rect">
            <a:avLst/>
          </a:prstGeom>
          <a:noFill/>
          <a:ln/>
        </p:spPr>
        <p:txBody>
          <a:bodyPr wrap="square" rtlCol="0" anchor="b"/>
          <a:lstStyle/>
          <a:p>
            <a:pPr marL="0" indent="0" algn="ctr">
              <a:buNone/>
            </a:pPr>
            <a:r>
              <a:rPr lang="en-US" sz="3000" b="1" dirty="0">
                <a:solidFill>
                  <a:srgbClr val="C1440E"/>
                </a:solidFill>
                <a:latin typeface="Cambria" pitchFamily="34" charset="0"/>
                <a:ea typeface="Cambria" pitchFamily="34" charset="-122"/>
                <a:cs typeface="Cambria" pitchFamily="34" charset="-120"/>
              </a:rPr>
              <a:t>+11</a:t>
            </a:r>
            <a:endParaRPr lang="en-US" sz="3000" dirty="0"/>
          </a:p>
        </p:txBody>
      </p:sp>
      <p:sp>
        <p:nvSpPr>
          <p:cNvPr id="9" name="Text 6"/>
          <p:cNvSpPr txBox="1"/>
          <p:nvPr/>
        </p:nvSpPr>
        <p:spPr>
          <a:xfrm>
            <a:off x="658368" y="3271723"/>
            <a:ext cx="3072384" cy="590702"/>
          </a:xfrm>
          <a:prstGeom prst="rect">
            <a:avLst/>
          </a:prstGeom>
          <a:noFill/>
          <a:ln/>
        </p:spPr>
        <p:txBody>
          <a:bodyPr wrap="square"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more registered voters, treated vs. control</a:t>
            </a:r>
            <a:endParaRPr lang="en-US" sz="1100" dirty="0"/>
          </a:p>
        </p:txBody>
      </p:sp>
      <p:sp>
        <p:nvSpPr>
          <p:cNvPr id="10" name="Shape 7"/>
          <p:cNvSpPr/>
          <p:nvPr/>
        </p:nvSpPr>
        <p:spPr>
          <a:xfrm>
            <a:off x="4160520" y="2194560"/>
            <a:ext cx="3291840" cy="1737360"/>
          </a:xfrm>
          <a:prstGeom prst="roundRect">
            <a:avLst>
              <a:gd name="adj" fmla="val 4211"/>
            </a:avLst>
          </a:prstGeom>
          <a:solidFill>
            <a:srgbClr val="EEF3FC"/>
          </a:solidFill>
          <a:ln/>
          <a:effectLst>
            <a:outerShdw blurRad="101600" dist="38100" dir="5400000" algn="bl" rotWithShape="0">
              <a:srgbClr val="1B1F3B">
                <a:alpha val="18000"/>
              </a:srgbClr>
            </a:outerShdw>
          </a:effectLst>
        </p:spPr>
        <p:txBody>
          <a:bodyPr/>
          <a:lstStyle/>
          <a:p>
            <a:endParaRPr lang="en-US"/>
          </a:p>
        </p:txBody>
      </p:sp>
      <p:sp>
        <p:nvSpPr>
          <p:cNvPr id="11" name="Text 8"/>
          <p:cNvSpPr txBox="1"/>
          <p:nvPr/>
        </p:nvSpPr>
        <p:spPr>
          <a:xfrm>
            <a:off x="4251960" y="2304288"/>
            <a:ext cx="3108960" cy="1007669"/>
          </a:xfrm>
          <a:prstGeom prst="rect">
            <a:avLst/>
          </a:prstGeom>
          <a:noFill/>
          <a:ln/>
        </p:spPr>
        <p:txBody>
          <a:bodyPr wrap="square" rtlCol="0" anchor="b"/>
          <a:lstStyle/>
          <a:p>
            <a:pPr marL="0" indent="0" algn="ctr">
              <a:buNone/>
            </a:pPr>
            <a:r>
              <a:rPr lang="en-US" sz="3000" b="1" dirty="0">
                <a:solidFill>
                  <a:srgbClr val="C1440E"/>
                </a:solidFill>
                <a:latin typeface="Cambria" pitchFamily="34" charset="0"/>
                <a:ea typeface="Cambria" pitchFamily="34" charset="-122"/>
                <a:cs typeface="Cambria" pitchFamily="34" charset="-120"/>
              </a:rPr>
              <a:t>−2.3 pts</a:t>
            </a:r>
            <a:endParaRPr lang="en-US" sz="3000" dirty="0"/>
          </a:p>
        </p:txBody>
      </p:sp>
      <p:sp>
        <p:nvSpPr>
          <p:cNvPr id="12" name="Text 9"/>
          <p:cNvSpPr txBox="1"/>
          <p:nvPr/>
        </p:nvSpPr>
        <p:spPr>
          <a:xfrm>
            <a:off x="4270248" y="3271723"/>
            <a:ext cx="3072384" cy="590702"/>
          </a:xfrm>
          <a:prstGeom prst="rect">
            <a:avLst/>
          </a:prstGeom>
          <a:noFill/>
          <a:ln/>
        </p:spPr>
        <p:txBody>
          <a:bodyPr wrap="square"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lower March 2003 turnout, treated vs. control</a:t>
            </a:r>
            <a:endParaRPr lang="en-US" sz="1100" dirty="0"/>
          </a:p>
        </p:txBody>
      </p:sp>
      <p:sp>
        <p:nvSpPr>
          <p:cNvPr id="13" name="Shape 10"/>
          <p:cNvSpPr/>
          <p:nvPr/>
        </p:nvSpPr>
        <p:spPr>
          <a:xfrm>
            <a:off x="7772400" y="2194560"/>
            <a:ext cx="3429000" cy="1737360"/>
          </a:xfrm>
          <a:prstGeom prst="roundRect">
            <a:avLst>
              <a:gd name="adj" fmla="val 4211"/>
            </a:avLst>
          </a:prstGeom>
          <a:solidFill>
            <a:srgbClr val="1E2761"/>
          </a:solidFill>
          <a:ln/>
          <a:effectLst>
            <a:outerShdw blurRad="101600" dist="38100" dir="5400000" algn="bl" rotWithShape="0">
              <a:srgbClr val="1B1F3B">
                <a:alpha val="18000"/>
              </a:srgbClr>
            </a:outerShdw>
          </a:effectLst>
        </p:spPr>
        <p:txBody>
          <a:bodyPr/>
          <a:lstStyle/>
          <a:p>
            <a:endParaRPr lang="en-US"/>
          </a:p>
        </p:txBody>
      </p:sp>
      <p:sp>
        <p:nvSpPr>
          <p:cNvPr id="14" name="Text 11"/>
          <p:cNvSpPr txBox="1"/>
          <p:nvPr/>
        </p:nvSpPr>
        <p:spPr>
          <a:xfrm>
            <a:off x="8001000" y="2331720"/>
            <a:ext cx="2926080" cy="45720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No.</a:t>
            </a:r>
            <a:endParaRPr lang="en-US" sz="2400" dirty="0"/>
          </a:p>
        </p:txBody>
      </p:sp>
      <p:sp>
        <p:nvSpPr>
          <p:cNvPr id="15" name="Text 12"/>
          <p:cNvSpPr txBox="1"/>
          <p:nvPr/>
        </p:nvSpPr>
        <p:spPr>
          <a:xfrm>
            <a:off x="8001000" y="2788920"/>
            <a:ext cx="2926080" cy="1005840"/>
          </a:xfrm>
          <a:prstGeom prst="rect">
            <a:avLst/>
          </a:prstGeom>
          <a:noFill/>
          <a:ln/>
        </p:spPr>
        <p:txBody>
          <a:bodyPr wrap="square" rtlCol="0" anchor="t"/>
          <a:lstStyle/>
          <a:p>
            <a:pPr marL="0" indent="0">
              <a:buNone/>
            </a:pPr>
            <a:r>
              <a:rPr lang="en-US" sz="1150" dirty="0">
                <a:solidFill>
                  <a:srgbClr val="CADCFC"/>
                </a:solidFill>
                <a:latin typeface="Calibri" pitchFamily="34" charset="0"/>
                <a:ea typeface="Calibri" pitchFamily="34" charset="-122"/>
                <a:cs typeface="Calibri" pitchFamily="34" charset="-120"/>
              </a:rPr>
              <a:t>A fair coin can land heads 6/10 without being unfair.</a:t>
            </a:r>
            <a:endParaRPr lang="en-US" sz="1150" dirty="0"/>
          </a:p>
        </p:txBody>
      </p:sp>
      <p:sp>
        <p:nvSpPr>
          <p:cNvPr id="16" name="Text 13"/>
          <p:cNvSpPr txBox="1"/>
          <p:nvPr/>
        </p:nvSpPr>
        <p:spPr>
          <a:xfrm>
            <a:off x="548640" y="4251960"/>
            <a:ext cx="10515600" cy="2103120"/>
          </a:xfrm>
          <a:prstGeom prst="rect">
            <a:avLst/>
          </a:prstGeom>
          <a:noFill/>
          <a:ln/>
        </p:spPr>
        <p:txBody>
          <a:bodyPr wrap="square" rtlCol="0" anchor="t"/>
          <a:lstStyle/>
          <a:p>
            <a:pPr marL="228600" indent="-228600">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Randomization is a promise about the PROCEDURE, not that any one draw looks perfectly balanced.</a:t>
            </a:r>
            <a:endParaRPr lang="en-US" sz="1350" dirty="0"/>
          </a:p>
          <a:p>
            <a:pPr marL="228600" indent="-228600">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With 28 precincts and 21 covariates checked, some chance imbalance on SOME covariate is close to guaranteed.</a:t>
            </a:r>
            <a:endParaRPr lang="en-US" sz="1350" dirty="0"/>
          </a:p>
          <a:p>
            <a:pPr marL="228600" indent="-228600">
              <a:spcAft>
                <a:spcPts val="1000"/>
              </a:spcAft>
              <a:buSzPct val="100000"/>
              <a:buChar char="•"/>
            </a:pPr>
            <a:r>
              <a:rPr lang="en-US" sz="1350" b="1" dirty="0">
                <a:solidFill>
                  <a:srgbClr val="C1440E"/>
                </a:solidFill>
                <a:latin typeface="Calibri" pitchFamily="34" charset="0"/>
                <a:ea typeface="Calibri" pitchFamily="34" charset="-122"/>
                <a:cs typeface="Calibri" pitchFamily="34" charset="-120"/>
              </a:rPr>
              <a:t>How to actually reassure ACORN: Show them, by simulating the space of draws the design could have produced. That's Q4–Q6.</a:t>
            </a:r>
            <a:endParaRPr lang="en-US" sz="1350" dirty="0"/>
          </a:p>
        </p:txBody>
      </p:sp>
      <p:sp>
        <p:nvSpPr>
          <p:cNvPr id="17" name="Text 14"/>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18" name="Text 15"/>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shuffle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Q4–Q6</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Simulate the space of possible random assignments</a:t>
            </a:r>
            <a:endParaRPr lang="en-US" sz="2700" dirty="0"/>
          </a:p>
        </p:txBody>
      </p:sp>
      <p:pic>
        <p:nvPicPr>
          <p:cNvPr id="6" name="Image 1" descr="/tmp/deck5/assets/fig1.png"/>
          <p:cNvPicPr>
            <a:picLocks noChangeAspect="1"/>
          </p:cNvPicPr>
          <p:nvPr/>
        </p:nvPicPr>
        <p:blipFill>
          <a:blip r:embed="rId4"/>
          <a:srcRect/>
          <a:stretch/>
        </p:blipFill>
        <p:spPr>
          <a:xfrm>
            <a:off x="548640" y="1508760"/>
            <a:ext cx="7223760" cy="3931920"/>
          </a:xfrm>
          <a:prstGeom prst="rect">
            <a:avLst/>
          </a:prstGeom>
        </p:spPr>
      </p:pic>
      <p:sp>
        <p:nvSpPr>
          <p:cNvPr id="7" name="Text 3"/>
          <p:cNvSpPr txBox="1"/>
          <p:nvPr/>
        </p:nvSpPr>
        <p:spPr>
          <a:xfrm>
            <a:off x="8229600" y="1600200"/>
            <a:ext cx="3429000" cy="3666067"/>
          </a:xfrm>
          <a:prstGeom prst="rect">
            <a:avLst/>
          </a:prstGeom>
          <a:noFill/>
          <a:ln/>
        </p:spPr>
        <p:txBody>
          <a:bodyPr wrap="square" rtlCol="0" anchor="t"/>
          <a:lstStyle/>
          <a:p>
            <a:pPr marL="228600" indent="-228600">
              <a:spcAft>
                <a:spcPts val="1000"/>
              </a:spcAft>
              <a:buSzPct val="100000"/>
              <a:buChar char="•"/>
            </a:pPr>
            <a:r>
              <a:rPr lang="en-US" sz="1300" b="1" dirty="0">
                <a:solidFill>
                  <a:srgbClr val="1B1F3B"/>
                </a:solidFill>
                <a:latin typeface="Calibri" pitchFamily="34" charset="0"/>
                <a:ea typeface="Calibri" pitchFamily="34" charset="-122"/>
                <a:cs typeface="Calibri" pitchFamily="34" charset="-120"/>
              </a:rPr>
              <a:t>set.seed(123): reshuffle z across the SAME 28 precincts, 100 times. Repeat the design.</a:t>
            </a:r>
            <a:endParaRPr lang="en-US" sz="1300" dirty="0"/>
          </a:p>
          <a:p>
            <a:pPr marL="228600" indent="-228600">
              <a:spcAft>
                <a:spcPts val="1000"/>
              </a:spcAft>
              <a:buSzPct val="100000"/>
              <a:buChar char="•"/>
            </a:pPr>
            <a:r>
              <a:rPr lang="en-US" sz="1300" dirty="0">
                <a:solidFill>
                  <a:srgbClr val="1B1F3B"/>
                </a:solidFill>
                <a:latin typeface="Calibri" pitchFamily="34" charset="0"/>
                <a:ea typeface="Calibri" pitchFamily="34" charset="-122"/>
                <a:cs typeface="Calibri" pitchFamily="34" charset="-120"/>
              </a:rPr>
              <a:t>Box = the distribution of chance imbalances; dot = ACORN's actual draw.</a:t>
            </a:r>
            <a:endParaRPr lang="en-US" sz="1300" dirty="0"/>
          </a:p>
          <a:p>
            <a:pPr marL="228600" indent="-228600">
              <a:spcAft>
                <a:spcPts val="1000"/>
              </a:spcAft>
              <a:buSzPct val="100000"/>
              <a:buChar char="•"/>
            </a:pPr>
            <a:r>
              <a:rPr lang="en-US" sz="1300" dirty="0">
                <a:solidFill>
                  <a:srgbClr val="1B1F3B"/>
                </a:solidFill>
                <a:latin typeface="Calibri" pitchFamily="34" charset="0"/>
                <a:ea typeface="Calibri" pitchFamily="34" charset="-122"/>
                <a:cs typeface="Calibri" pitchFamily="34" charset="-120"/>
              </a:rPr>
              <a:t>Both size (+11) and v_m2003 (−0.023) sit comfortably mid-distribution, nowhere near the tails.</a:t>
            </a:r>
            <a:endParaRPr lang="en-US" sz="1300" dirty="0"/>
          </a:p>
        </p:txBody>
      </p:sp>
      <p:sp>
        <p:nvSpPr>
          <p:cNvPr id="8" name="Text 4"/>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9" name="Text 5"/>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chartline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Q5</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What the three “SE of a proportion” numbers are for</a:t>
            </a:r>
            <a:endParaRPr lang="en-US" sz="2700" dirty="0"/>
          </a:p>
        </p:txBody>
      </p:sp>
      <p:sp>
        <p:nvSpPr>
          <p:cNvPr id="6" name="Text 3"/>
          <p:cNvSpPr txBox="1"/>
          <p:nvPr/>
        </p:nvSpPr>
        <p:spPr>
          <a:xfrm>
            <a:off x="548640" y="1463040"/>
            <a:ext cx="10515600" cy="45720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NOT about the covariates. About how precisely the simulation's own 5th/95th-percentile cutoffs are estimated.</a:t>
            </a:r>
            <a:endParaRPr lang="en-US" sz="1400" dirty="0"/>
          </a:p>
        </p:txBody>
      </p:sp>
      <p:sp>
        <p:nvSpPr>
          <p:cNvPr id="7" name="Shape 4"/>
          <p:cNvSpPr/>
          <p:nvPr/>
        </p:nvSpPr>
        <p:spPr>
          <a:xfrm>
            <a:off x="548640" y="2148840"/>
            <a:ext cx="3291840" cy="1737360"/>
          </a:xfrm>
          <a:prstGeom prst="roundRect">
            <a:avLst>
              <a:gd name="adj" fmla="val 4211"/>
            </a:avLst>
          </a:prstGeom>
          <a:solidFill>
            <a:srgbClr val="EEF3FC"/>
          </a:solidFill>
          <a:ln/>
          <a:effectLst>
            <a:outerShdw blurRad="101600" dist="38100" dir="5400000" algn="bl" rotWithShape="0">
              <a:srgbClr val="1B1F3B">
                <a:alpha val="18000"/>
              </a:srgbClr>
            </a:outerShdw>
          </a:effectLst>
        </p:spPr>
        <p:txBody>
          <a:bodyPr/>
          <a:lstStyle/>
          <a:p>
            <a:endParaRPr lang="en-US"/>
          </a:p>
        </p:txBody>
      </p:sp>
      <p:sp>
        <p:nvSpPr>
          <p:cNvPr id="8" name="Text 5"/>
          <p:cNvSpPr txBox="1"/>
          <p:nvPr/>
        </p:nvSpPr>
        <p:spPr>
          <a:xfrm>
            <a:off x="640080" y="2258568"/>
            <a:ext cx="3108960" cy="1007669"/>
          </a:xfrm>
          <a:prstGeom prst="rect">
            <a:avLst/>
          </a:prstGeom>
          <a:noFill/>
          <a:ln/>
        </p:spPr>
        <p:txBody>
          <a:bodyPr wrap="square" rtlCol="0" anchor="b"/>
          <a:lstStyle/>
          <a:p>
            <a:pPr marL="0" indent="0" algn="ctr">
              <a:buNone/>
            </a:pPr>
            <a:r>
              <a:rPr lang="en-US" sz="3000" b="1" dirty="0">
                <a:solidFill>
                  <a:srgbClr val="C1440E"/>
                </a:solidFill>
                <a:latin typeface="Cambria" pitchFamily="34" charset="0"/>
                <a:ea typeface="Cambria" pitchFamily="34" charset="-122"/>
                <a:cs typeface="Cambria" pitchFamily="34" charset="-120"/>
              </a:rPr>
              <a:t>±0.044</a:t>
            </a:r>
            <a:endParaRPr lang="en-US" sz="3000" dirty="0"/>
          </a:p>
        </p:txBody>
      </p:sp>
      <p:sp>
        <p:nvSpPr>
          <p:cNvPr id="9" name="Text 6"/>
          <p:cNvSpPr txBox="1"/>
          <p:nvPr/>
        </p:nvSpPr>
        <p:spPr>
          <a:xfrm>
            <a:off x="658368" y="3226003"/>
            <a:ext cx="3072384" cy="590702"/>
          </a:xfrm>
          <a:prstGeom prst="rect">
            <a:avLst/>
          </a:prstGeom>
          <a:noFill/>
          <a:ln/>
        </p:spPr>
        <p:txBody>
          <a:bodyPr wrap="square"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at nsims = 100 (what the .qmd uses)</a:t>
            </a:r>
            <a:endParaRPr lang="en-US" sz="1100" dirty="0"/>
          </a:p>
        </p:txBody>
      </p:sp>
      <p:sp>
        <p:nvSpPr>
          <p:cNvPr id="10" name="Shape 7"/>
          <p:cNvSpPr/>
          <p:nvPr/>
        </p:nvSpPr>
        <p:spPr>
          <a:xfrm>
            <a:off x="4160520" y="2148840"/>
            <a:ext cx="3291840" cy="1737360"/>
          </a:xfrm>
          <a:prstGeom prst="roundRect">
            <a:avLst>
              <a:gd name="adj" fmla="val 4211"/>
            </a:avLst>
          </a:prstGeom>
          <a:solidFill>
            <a:srgbClr val="EEF3FC"/>
          </a:solidFill>
          <a:ln/>
          <a:effectLst>
            <a:outerShdw blurRad="101600" dist="38100" dir="5400000" algn="bl" rotWithShape="0">
              <a:srgbClr val="1B1F3B">
                <a:alpha val="18000"/>
              </a:srgbClr>
            </a:outerShdw>
          </a:effectLst>
        </p:spPr>
        <p:txBody>
          <a:bodyPr/>
          <a:lstStyle/>
          <a:p>
            <a:endParaRPr lang="en-US"/>
          </a:p>
        </p:txBody>
      </p:sp>
      <p:sp>
        <p:nvSpPr>
          <p:cNvPr id="11" name="Text 8"/>
          <p:cNvSpPr txBox="1"/>
          <p:nvPr/>
        </p:nvSpPr>
        <p:spPr>
          <a:xfrm>
            <a:off x="4251960" y="2258568"/>
            <a:ext cx="3108960" cy="1007669"/>
          </a:xfrm>
          <a:prstGeom prst="rect">
            <a:avLst/>
          </a:prstGeom>
          <a:noFill/>
          <a:ln/>
        </p:spPr>
        <p:txBody>
          <a:bodyPr wrap="square" rtlCol="0" anchor="b"/>
          <a:lstStyle/>
          <a:p>
            <a:pPr marL="0" indent="0" algn="ctr">
              <a:buNone/>
            </a:pPr>
            <a:r>
              <a:rPr lang="en-US" sz="3000" b="1" dirty="0">
                <a:solidFill>
                  <a:srgbClr val="1E2761"/>
                </a:solidFill>
                <a:latin typeface="Cambria" pitchFamily="34" charset="0"/>
                <a:ea typeface="Cambria" pitchFamily="34" charset="-122"/>
                <a:cs typeface="Cambria" pitchFamily="34" charset="-120"/>
              </a:rPr>
              <a:t>±0.014</a:t>
            </a:r>
            <a:endParaRPr lang="en-US" sz="3000" dirty="0"/>
          </a:p>
        </p:txBody>
      </p:sp>
      <p:sp>
        <p:nvSpPr>
          <p:cNvPr id="12" name="Text 9"/>
          <p:cNvSpPr txBox="1"/>
          <p:nvPr/>
        </p:nvSpPr>
        <p:spPr>
          <a:xfrm>
            <a:off x="4270248" y="3226003"/>
            <a:ext cx="3072384" cy="590702"/>
          </a:xfrm>
          <a:prstGeom prst="rect">
            <a:avLst/>
          </a:prstGeom>
          <a:noFill/>
          <a:ln/>
        </p:spPr>
        <p:txBody>
          <a:bodyPr wrap="square"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at nsims = 1,000</a:t>
            </a:r>
            <a:endParaRPr lang="en-US" sz="1100" dirty="0"/>
          </a:p>
        </p:txBody>
      </p:sp>
      <p:sp>
        <p:nvSpPr>
          <p:cNvPr id="13" name="Shape 10"/>
          <p:cNvSpPr/>
          <p:nvPr/>
        </p:nvSpPr>
        <p:spPr>
          <a:xfrm>
            <a:off x="7772400" y="2148840"/>
            <a:ext cx="3291840" cy="1737360"/>
          </a:xfrm>
          <a:prstGeom prst="roundRect">
            <a:avLst>
              <a:gd name="adj" fmla="val 4211"/>
            </a:avLst>
          </a:prstGeom>
          <a:solidFill>
            <a:srgbClr val="EEF3FC"/>
          </a:solidFill>
          <a:ln/>
          <a:effectLst>
            <a:outerShdw blurRad="101600" dist="38100" dir="5400000" algn="bl" rotWithShape="0">
              <a:srgbClr val="1B1F3B">
                <a:alpha val="18000"/>
              </a:srgbClr>
            </a:outerShdw>
          </a:effectLst>
        </p:spPr>
        <p:txBody>
          <a:bodyPr/>
          <a:lstStyle/>
          <a:p>
            <a:endParaRPr lang="en-US"/>
          </a:p>
        </p:txBody>
      </p:sp>
      <p:sp>
        <p:nvSpPr>
          <p:cNvPr id="14" name="Text 11"/>
          <p:cNvSpPr txBox="1"/>
          <p:nvPr/>
        </p:nvSpPr>
        <p:spPr>
          <a:xfrm>
            <a:off x="7863840" y="2258568"/>
            <a:ext cx="3108960" cy="1007669"/>
          </a:xfrm>
          <a:prstGeom prst="rect">
            <a:avLst/>
          </a:prstGeom>
          <a:noFill/>
          <a:ln/>
        </p:spPr>
        <p:txBody>
          <a:bodyPr wrap="square" rtlCol="0" anchor="b"/>
          <a:lstStyle/>
          <a:p>
            <a:pPr marL="0" indent="0" algn="ctr">
              <a:buNone/>
            </a:pPr>
            <a:r>
              <a:rPr lang="en-US" sz="3000" b="1" dirty="0">
                <a:solidFill>
                  <a:srgbClr val="1E2761"/>
                </a:solidFill>
                <a:latin typeface="Cambria" pitchFamily="34" charset="0"/>
                <a:ea typeface="Cambria" pitchFamily="34" charset="-122"/>
                <a:cs typeface="Cambria" pitchFamily="34" charset="-120"/>
              </a:rPr>
              <a:t>±0.004</a:t>
            </a:r>
            <a:endParaRPr lang="en-US" sz="3000" dirty="0"/>
          </a:p>
        </p:txBody>
      </p:sp>
      <p:sp>
        <p:nvSpPr>
          <p:cNvPr id="15" name="Text 12"/>
          <p:cNvSpPr txBox="1"/>
          <p:nvPr/>
        </p:nvSpPr>
        <p:spPr>
          <a:xfrm>
            <a:off x="7882128" y="3226003"/>
            <a:ext cx="3072384" cy="590702"/>
          </a:xfrm>
          <a:prstGeom prst="rect">
            <a:avLst/>
          </a:prstGeom>
          <a:noFill/>
          <a:ln/>
        </p:spPr>
        <p:txBody>
          <a:bodyPr wrap="square"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at nsims = 10,000</a:t>
            </a:r>
            <a:endParaRPr lang="en-US" sz="1100" dirty="0"/>
          </a:p>
        </p:txBody>
      </p:sp>
      <p:sp>
        <p:nvSpPr>
          <p:cNvPr id="16" name="Text 13"/>
          <p:cNvSpPr txBox="1"/>
          <p:nvPr/>
        </p:nvSpPr>
        <p:spPr>
          <a:xfrm>
            <a:off x="548640" y="4206240"/>
            <a:ext cx="10515600" cy="2011680"/>
          </a:xfrm>
          <a:prstGeom prst="rect">
            <a:avLst/>
          </a:prstGeom>
          <a:noFill/>
          <a:ln/>
        </p:spPr>
        <p:txBody>
          <a:bodyPr wrap="square" rtlCol="0" anchor="t"/>
          <a:lstStyle/>
          <a:p>
            <a:pPr marL="228600" indent="-228600">
              <a:spcAft>
                <a:spcPts val="1000"/>
              </a:spcAft>
              <a:buSzPct val="100000"/>
              <a:buChar char="•"/>
            </a:pPr>
            <a:r>
              <a:rPr lang="en-US" sz="1400" dirty="0">
                <a:solidFill>
                  <a:srgbClr val="1B1F3B"/>
                </a:solidFill>
                <a:latin typeface="Calibri" pitchFamily="34" charset="0"/>
                <a:ea typeface="Calibri" pitchFamily="34" charset="-122"/>
                <a:cs typeface="Calibri" pitchFamily="34" charset="-120"/>
              </a:rPr>
              <a:t>Whether a simulated draw falls beyond a 5% cutoff is a coin flip. Estimating that cutoff from only 100 draws carries its own Monte Carlo noise.</a:t>
            </a:r>
            <a:endParaRPr lang="en-US" sz="1400" dirty="0"/>
          </a:p>
          <a:p>
            <a:pPr marL="228600" indent="-228600">
              <a:spcAft>
                <a:spcPts val="1000"/>
              </a:spcAft>
              <a:buSzPct val="100000"/>
              <a:buChar char="•"/>
            </a:pPr>
            <a:r>
              <a:rPr lang="en-US" sz="1400" dirty="0">
                <a:solidFill>
                  <a:srgbClr val="1B1F3B"/>
                </a:solidFill>
                <a:latin typeface="Calibri" pitchFamily="34" charset="0"/>
                <a:ea typeface="Calibri" pitchFamily="34" charset="-122"/>
                <a:cs typeface="Calibri" pitchFamily="34" charset="-120"/>
              </a:rPr>
              <a:t>ACORN's gaps aren't near the tails, so this doesn't change the conclusion here. But a borderline case (near the 4th or 6th percentile) would need far more than 100 simulations to call confidently.</a:t>
            </a:r>
            <a:endParaRPr lang="en-US" sz="1400" dirty="0"/>
          </a:p>
        </p:txBody>
      </p:sp>
      <p:sp>
        <p:nvSpPr>
          <p:cNvPr id="17" name="Text 14"/>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18" name="Text 15"/>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bullseye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Q7</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Estimating the ITT and replicating Arceneaux's number</a:t>
            </a:r>
            <a:endParaRPr lang="en-US" sz="2700" dirty="0"/>
          </a:p>
        </p:txBody>
      </p:sp>
      <p:sp>
        <p:nvSpPr>
          <p:cNvPr id="6" name="Shape 3"/>
          <p:cNvSpPr/>
          <p:nvPr/>
        </p:nvSpPr>
        <p:spPr>
          <a:xfrm>
            <a:off x="548640" y="1691640"/>
            <a:ext cx="502920" cy="502920"/>
          </a:xfrm>
          <a:prstGeom prst="ellipse">
            <a:avLst/>
          </a:prstGeom>
          <a:solidFill>
            <a:srgbClr val="1E2761"/>
          </a:solidFill>
          <a:ln/>
        </p:spPr>
        <p:txBody>
          <a:bodyPr/>
          <a:lstStyle/>
          <a:p>
            <a:endParaRPr lang="en-US"/>
          </a:p>
        </p:txBody>
      </p:sp>
      <p:pic>
        <p:nvPicPr>
          <p:cNvPr id="7" name="Image 1" descr="/tmp/deck5/icons/bullseye_white.png"/>
          <p:cNvPicPr>
            <a:picLocks noChangeAspect="1"/>
          </p:cNvPicPr>
          <p:nvPr/>
        </p:nvPicPr>
        <p:blipFill>
          <a:blip r:embed="rId3"/>
          <a:stretch>
            <a:fillRect/>
          </a:stretch>
        </p:blipFill>
        <p:spPr>
          <a:xfrm>
            <a:off x="658368" y="1801368"/>
            <a:ext cx="283464" cy="283464"/>
          </a:xfrm>
          <a:prstGeom prst="rect">
            <a:avLst/>
          </a:prstGeom>
        </p:spPr>
      </p:pic>
      <p:sp>
        <p:nvSpPr>
          <p:cNvPr id="8" name="Text 4"/>
          <p:cNvSpPr txBox="1"/>
          <p:nvPr/>
        </p:nvSpPr>
        <p:spPr>
          <a:xfrm>
            <a:off x="548640" y="2313432"/>
            <a:ext cx="3484778"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Estimand</a:t>
            </a:r>
            <a:endParaRPr lang="en-US" sz="1400" dirty="0"/>
          </a:p>
        </p:txBody>
      </p:sp>
      <p:sp>
        <p:nvSpPr>
          <p:cNvPr id="9" name="Text 5"/>
          <p:cNvSpPr txBox="1"/>
          <p:nvPr/>
        </p:nvSpPr>
        <p:spPr>
          <a:xfrm>
            <a:off x="548640" y="2624328"/>
            <a:ext cx="3484778" cy="1737360"/>
          </a:xfrm>
          <a:prstGeom prst="rect">
            <a:avLst/>
          </a:prstGeom>
          <a:noFill/>
          <a:ln/>
        </p:spPr>
        <p:txBody>
          <a:bodyPr wrap="square" rtlCol="0" anchor="t"/>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Average effect of ASSIGNMENT to canvassing on turnout, across all 28 precincts. Already includes imperfect contact.</a:t>
            </a:r>
            <a:endParaRPr lang="en-US" sz="1150" dirty="0"/>
          </a:p>
        </p:txBody>
      </p:sp>
      <p:sp>
        <p:nvSpPr>
          <p:cNvPr id="10" name="Shape 6"/>
          <p:cNvSpPr/>
          <p:nvPr/>
        </p:nvSpPr>
        <p:spPr>
          <a:xfrm>
            <a:off x="4353458" y="1691640"/>
            <a:ext cx="502920" cy="502920"/>
          </a:xfrm>
          <a:prstGeom prst="ellipse">
            <a:avLst/>
          </a:prstGeom>
          <a:solidFill>
            <a:srgbClr val="1E2761"/>
          </a:solidFill>
          <a:ln/>
        </p:spPr>
        <p:txBody>
          <a:bodyPr/>
          <a:lstStyle/>
          <a:p>
            <a:endParaRPr lang="en-US"/>
          </a:p>
        </p:txBody>
      </p:sp>
      <p:pic>
        <p:nvPicPr>
          <p:cNvPr id="11" name="Image 2" descr="/tmp/deck5/icons/calculator_white.png"/>
          <p:cNvPicPr>
            <a:picLocks noChangeAspect="1"/>
          </p:cNvPicPr>
          <p:nvPr/>
        </p:nvPicPr>
        <p:blipFill>
          <a:blip r:embed="rId4"/>
          <a:stretch>
            <a:fillRect/>
          </a:stretch>
        </p:blipFill>
        <p:spPr>
          <a:xfrm>
            <a:off x="4463186" y="1801368"/>
            <a:ext cx="283464" cy="283464"/>
          </a:xfrm>
          <a:prstGeom prst="rect">
            <a:avLst/>
          </a:prstGeom>
        </p:spPr>
      </p:pic>
      <p:sp>
        <p:nvSpPr>
          <p:cNvPr id="12" name="Text 7"/>
          <p:cNvSpPr txBox="1"/>
          <p:nvPr/>
        </p:nvSpPr>
        <p:spPr>
          <a:xfrm>
            <a:off x="4353458" y="2313432"/>
            <a:ext cx="3484778"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Estimator</a:t>
            </a:r>
            <a:endParaRPr lang="en-US" sz="1400" dirty="0"/>
          </a:p>
        </p:txBody>
      </p:sp>
      <p:sp>
        <p:nvSpPr>
          <p:cNvPr id="13" name="Text 8"/>
          <p:cNvSpPr txBox="1"/>
          <p:nvPr/>
        </p:nvSpPr>
        <p:spPr>
          <a:xfrm>
            <a:off x="4353458" y="2624328"/>
            <a:ext cx="3484778" cy="1737360"/>
          </a:xfrm>
          <a:prstGeom prst="rect">
            <a:avLst/>
          </a:prstGeom>
          <a:noFill/>
          <a:ln/>
        </p:spPr>
        <p:txBody>
          <a:bodyPr wrap="square" rtlCol="0" anchor="t"/>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lm_robust(vote03 ~ z, se_type=“HC2”). Unweighted treated-mean minus control-mean.</a:t>
            </a:r>
            <a:endParaRPr lang="en-US" sz="1150" dirty="0"/>
          </a:p>
        </p:txBody>
      </p:sp>
      <p:sp>
        <p:nvSpPr>
          <p:cNvPr id="14" name="Shape 9"/>
          <p:cNvSpPr/>
          <p:nvPr/>
        </p:nvSpPr>
        <p:spPr>
          <a:xfrm>
            <a:off x="8158277" y="1691640"/>
            <a:ext cx="502920" cy="502920"/>
          </a:xfrm>
          <a:prstGeom prst="ellipse">
            <a:avLst/>
          </a:prstGeom>
          <a:solidFill>
            <a:srgbClr val="1E2761"/>
          </a:solidFill>
          <a:ln/>
        </p:spPr>
        <p:txBody>
          <a:bodyPr/>
          <a:lstStyle/>
          <a:p>
            <a:endParaRPr lang="en-US"/>
          </a:p>
        </p:txBody>
      </p:sp>
      <p:pic>
        <p:nvPicPr>
          <p:cNvPr id="15" name="Image 3" descr="/tmp/deck5/icons/chartcol_white.png"/>
          <p:cNvPicPr>
            <a:picLocks noChangeAspect="1"/>
          </p:cNvPicPr>
          <p:nvPr/>
        </p:nvPicPr>
        <p:blipFill>
          <a:blip r:embed="rId5"/>
          <a:stretch>
            <a:fillRect/>
          </a:stretch>
        </p:blipFill>
        <p:spPr>
          <a:xfrm>
            <a:off x="8268005" y="1801368"/>
            <a:ext cx="283464" cy="283464"/>
          </a:xfrm>
          <a:prstGeom prst="rect">
            <a:avLst/>
          </a:prstGeom>
        </p:spPr>
      </p:pic>
      <p:sp>
        <p:nvSpPr>
          <p:cNvPr id="16" name="Text 10"/>
          <p:cNvSpPr txBox="1"/>
          <p:nvPr/>
        </p:nvSpPr>
        <p:spPr>
          <a:xfrm>
            <a:off x="8158277" y="2313432"/>
            <a:ext cx="3484778"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Estimate</a:t>
            </a:r>
            <a:endParaRPr lang="en-US" sz="1400" dirty="0"/>
          </a:p>
        </p:txBody>
      </p:sp>
      <p:sp>
        <p:nvSpPr>
          <p:cNvPr id="17" name="Text 11"/>
          <p:cNvSpPr txBox="1"/>
          <p:nvPr/>
        </p:nvSpPr>
        <p:spPr>
          <a:xfrm>
            <a:off x="8158277" y="2624328"/>
            <a:ext cx="3484778" cy="1737360"/>
          </a:xfrm>
          <a:prstGeom prst="rect">
            <a:avLst/>
          </a:prstGeom>
          <a:noFill/>
          <a:ln/>
        </p:spPr>
        <p:txBody>
          <a:bodyPr wrap="square" rtlCol="0" anchor="t"/>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0.0363 — 3.63 percentage points. SE = 0.0244. Matches Arceneaux's Table 3 precinct-level ITT.</a:t>
            </a:r>
            <a:endParaRPr lang="en-US" sz="1150" dirty="0"/>
          </a:p>
        </p:txBody>
      </p:sp>
      <p:sp>
        <p:nvSpPr>
          <p:cNvPr id="18" name="Shape 12"/>
          <p:cNvSpPr/>
          <p:nvPr/>
        </p:nvSpPr>
        <p:spPr>
          <a:xfrm>
            <a:off x="548640" y="3977640"/>
            <a:ext cx="11094415" cy="2057400"/>
          </a:xfrm>
          <a:prstGeom prst="roundRect">
            <a:avLst>
              <a:gd name="adj" fmla="val 3556"/>
            </a:avLst>
          </a:prstGeom>
          <a:solidFill>
            <a:srgbClr val="EEF3FC"/>
          </a:solidFill>
          <a:ln/>
          <a:effectLst>
            <a:outerShdw blurRad="101600" dist="38100" dir="5400000" algn="bl" rotWithShape="0">
              <a:srgbClr val="1B1F3B">
                <a:alpha val="18000"/>
              </a:srgbClr>
            </a:outerShdw>
          </a:effectLst>
        </p:spPr>
        <p:txBody>
          <a:bodyPr/>
          <a:lstStyle/>
          <a:p>
            <a:endParaRPr lang="en-US"/>
          </a:p>
        </p:txBody>
      </p:sp>
      <p:sp>
        <p:nvSpPr>
          <p:cNvPr id="19" name="Text 13"/>
          <p:cNvSpPr txBox="1"/>
          <p:nvPr/>
        </p:nvSpPr>
        <p:spPr>
          <a:xfrm>
            <a:off x="868680" y="4160520"/>
            <a:ext cx="3657600" cy="82296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32.5%  vs.  28.9%</a:t>
            </a:r>
            <a:endParaRPr lang="en-US" sz="3000" dirty="0"/>
          </a:p>
        </p:txBody>
      </p:sp>
      <p:sp>
        <p:nvSpPr>
          <p:cNvPr id="20" name="Text 14"/>
          <p:cNvSpPr txBox="1"/>
          <p:nvPr/>
        </p:nvSpPr>
        <p:spPr>
          <a:xfrm>
            <a:off x="868680" y="4937760"/>
            <a:ext cx="3657600" cy="54864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treated-precinct turnout vs. control-precinct turnout</a:t>
            </a:r>
            <a:endParaRPr lang="en-US" sz="1150" dirty="0"/>
          </a:p>
        </p:txBody>
      </p:sp>
      <p:sp>
        <p:nvSpPr>
          <p:cNvPr id="21" name="Text 15"/>
          <p:cNvSpPr txBox="1"/>
          <p:nvPr/>
        </p:nvSpPr>
        <p:spPr>
          <a:xfrm>
            <a:off x="4754880" y="4160520"/>
            <a:ext cx="6309360" cy="1737360"/>
          </a:xfrm>
          <a:prstGeom prst="rect">
            <a:avLst/>
          </a:prstGeom>
          <a:noFill/>
          <a:ln/>
        </p:spPr>
        <p:txBody>
          <a:bodyPr wrap="square" rtlCol="0" anchor="t"/>
          <a:lstStyle/>
          <a:p>
            <a:pPr marL="0" indent="0">
              <a:buNone/>
            </a:pPr>
            <a:r>
              <a:rPr lang="en-US" sz="1350" i="1" dirty="0">
                <a:solidFill>
                  <a:srgbClr val="1E2761"/>
                </a:solidFill>
                <a:latin typeface="Calibri" pitchFamily="34" charset="0"/>
                <a:ea typeface="Calibri" pitchFamily="34" charset="-122"/>
                <a:cs typeface="Calibri" pitchFamily="34" charset="-120"/>
              </a:rPr>
              <a:t>“Precincts we canvassed voted at a rate about 3.6 points higher, on average, than precincts we didn't. Because which precincts got canvassed was a coin flip, no other systematic difference explains that gap away.”</a:t>
            </a:r>
            <a:endParaRPr lang="en-US" sz="1350" dirty="0"/>
          </a:p>
        </p:txBody>
      </p:sp>
      <p:sp>
        <p:nvSpPr>
          <p:cNvPr id="22" name="Text 16"/>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23" name="Text 17"/>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chartline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Q8</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What the standard error actually means</a:t>
            </a:r>
            <a:endParaRPr lang="en-US" sz="2700" dirty="0"/>
          </a:p>
        </p:txBody>
      </p:sp>
      <p:sp>
        <p:nvSpPr>
          <p:cNvPr id="6" name="Text 3"/>
          <p:cNvSpPr txBox="1"/>
          <p:nvPr/>
        </p:nvSpPr>
        <p:spPr>
          <a:xfrm>
            <a:off x="548640" y="1600200"/>
            <a:ext cx="10515600" cy="4572000"/>
          </a:xfrm>
          <a:prstGeom prst="rect">
            <a:avLst/>
          </a:prstGeom>
          <a:noFill/>
          <a:ln/>
        </p:spPr>
        <p:txBody>
          <a:bodyPr wrap="square" rtlCol="0" anchor="t"/>
          <a:lstStyle/>
          <a:p>
            <a:pPr marL="228600" indent="-228600">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The true sampling variability of the estimator -- how far the estimate would move under a different 14-of-28 draw -- is UNKNOWABLE (needs both potential outcomes for every precinct).</a:t>
            </a:r>
            <a:endParaRPr lang="en-US" sz="1450" dirty="0"/>
          </a:p>
          <a:p>
            <a:pPr marL="228600" indent="-228600">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lm_robust()'s HC2 SE is a GUESS at that spread, built from the one dataset we have.</a:t>
            </a:r>
            <a:endParaRPr lang="en-US" sz="1450" dirty="0"/>
          </a:p>
          <a:p>
            <a:pPr marL="228600" indent="-228600">
              <a:spcAft>
                <a:spcPts val="1000"/>
              </a:spcAft>
              <a:buSzPct val="100000"/>
              <a:buChar char="•"/>
            </a:pPr>
            <a:r>
              <a:rPr lang="en-US" sz="1450" b="1" dirty="0">
                <a:solidFill>
                  <a:srgbClr val="1B1F3B"/>
                </a:solidFill>
                <a:latin typeface="Calibri" pitchFamily="34" charset="0"/>
                <a:ea typeface="Calibri" pitchFamily="34" charset="-122"/>
                <a:cs typeface="Calibri" pitchFamily="34" charset="-120"/>
              </a:rPr>
              <a:t>That guess turns out to equal the classical Neyman (1923) two-sample variance formula:</a:t>
            </a:r>
            <a:endParaRPr lang="en-US" sz="1450" dirty="0"/>
          </a:p>
          <a:p>
            <a:pPr marL="228600" indent="-228600">
              <a:spcAft>
                <a:spcPts val="1000"/>
              </a:spcAft>
              <a:buSzPct val="100000"/>
              <a:buChar char="•"/>
            </a:pPr>
            <a:r>
              <a:rPr lang="en-US" sz="1700" b="1" dirty="0">
                <a:solidFill>
                  <a:srgbClr val="C1440E"/>
                </a:solidFill>
                <a:latin typeface="Calibri" pitchFamily="34" charset="0"/>
                <a:ea typeface="Calibri" pitchFamily="34" charset="-122"/>
                <a:cs typeface="Calibri" pitchFamily="34" charset="-120"/>
              </a:rPr>
              <a:t>SE = √( s¹₁/n₁ + s²₀/n₀ )  =  0.0244</a:t>
            </a:r>
            <a:endParaRPr lang="en-US" sz="1450" dirty="0"/>
          </a:p>
          <a:p>
            <a:pPr marL="228600" indent="-228600">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95% CI: [−0.011, 0.084] comfortably includes zero. Worth having ready if asked “so is this real?” even though Q3 told us to avoid that language earlier.</a:t>
            </a:r>
            <a:endParaRPr lang="en-US" sz="1450" dirty="0"/>
          </a:p>
        </p:txBody>
      </p:sp>
      <p:sp>
        <p:nvSpPr>
          <p:cNvPr id="7" name="Text 4"/>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8" name="Text 5"/>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flask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Q9</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Building a race we can actually judge</a:t>
            </a:r>
            <a:endParaRPr lang="en-US" sz="2700" dirty="0"/>
          </a:p>
        </p:txBody>
      </p:sp>
      <p:sp>
        <p:nvSpPr>
          <p:cNvPr id="6" name="Text 3"/>
          <p:cNvSpPr txBox="1"/>
          <p:nvPr/>
        </p:nvSpPr>
        <p:spPr>
          <a:xfrm>
            <a:off x="548640" y="1600200"/>
            <a:ext cx="6492240" cy="4572000"/>
          </a:xfrm>
          <a:prstGeom prst="rect">
            <a:avLst/>
          </a:prstGeom>
          <a:noFill/>
          <a:ln/>
        </p:spPr>
        <p:txBody>
          <a:bodyPr wrap="square" rtlCol="0" anchor="t"/>
          <a:lstStyle/>
          <a:p>
            <a:pPr marL="228600" indent="-228600">
              <a:spcAft>
                <a:spcPts val="1000"/>
              </a:spcAft>
              <a:buSzPct val="100000"/>
              <a:buChar char="•"/>
            </a:pPr>
            <a:r>
              <a:rPr lang="en-US" sz="1400" b="1" dirty="0">
                <a:solidFill>
                  <a:srgbClr val="1B1F3B"/>
                </a:solidFill>
                <a:latin typeface="Calibri" pitchFamily="34" charset="0"/>
                <a:ea typeface="Calibri" pitchFamily="34" charset="-122"/>
                <a:cs typeface="Calibri" pitchFamily="34" charset="-120"/>
              </a:rPr>
              <a:t>The trick: rig the truth so we can check who's closest to it.</a:t>
            </a:r>
            <a:endParaRPr lang="en-US" sz="1400" dirty="0"/>
          </a:p>
          <a:p>
            <a:pPr marL="228600" indent="-228600">
              <a:spcAft>
                <a:spcPts val="1000"/>
              </a:spcAft>
              <a:buSzPct val="100000"/>
              <a:buChar char="•"/>
            </a:pPr>
            <a:r>
              <a:rPr lang="en-US" sz="1400" dirty="0">
                <a:solidFill>
                  <a:srgbClr val="1B1F3B"/>
                </a:solidFill>
                <a:latin typeface="Calibri" pitchFamily="34" charset="0"/>
                <a:ea typeface="Calibri" pitchFamily="34" charset="-122"/>
                <a:cs typeface="Calibri" pitchFamily="34" charset="-120"/>
              </a:rPr>
              <a:t>Doctor the outcome (newY): set the highest-turnout precinct to 1, lowest to 0. Then Y = 0.3·Z + </a:t>
            </a:r>
            <a:r>
              <a:rPr lang="en-US" sz="1400" dirty="0" err="1">
                <a:solidFill>
                  <a:srgbClr val="1B1F3B"/>
                </a:solidFill>
                <a:latin typeface="Calibri" pitchFamily="34" charset="0"/>
                <a:ea typeface="Calibri" pitchFamily="34" charset="-122"/>
                <a:cs typeface="Calibri" pitchFamily="34" charset="-120"/>
              </a:rPr>
              <a:t>newY</a:t>
            </a:r>
            <a:r>
              <a:rPr lang="en-US" sz="1400" dirty="0">
                <a:solidFill>
                  <a:srgbClr val="1B1F3B"/>
                </a:solidFill>
                <a:latin typeface="Calibri" pitchFamily="34" charset="0"/>
                <a:ea typeface="Calibri" pitchFamily="34" charset="-122"/>
                <a:cs typeface="Calibri" pitchFamily="34" charset="-120"/>
              </a:rPr>
              <a:t> -- True effect is EXACTLY 0.3 everywhere, by construction.</a:t>
            </a:r>
            <a:endParaRPr lang="en-US" sz="1400" dirty="0"/>
          </a:p>
          <a:p>
            <a:pPr marL="228600" indent="-228600">
              <a:spcAft>
                <a:spcPts val="1000"/>
              </a:spcAft>
              <a:buSzPct val="100000"/>
              <a:buChar char="•"/>
            </a:pPr>
            <a:r>
              <a:rPr lang="en-US" sz="1400" b="1" dirty="0">
                <a:solidFill>
                  <a:srgbClr val="1B1F3B"/>
                </a:solidFill>
                <a:latin typeface="Calibri" pitchFamily="34" charset="0"/>
                <a:ea typeface="Calibri" pitchFamily="34" charset="-122"/>
                <a:cs typeface="Calibri" pitchFamily="34" charset="-120"/>
              </a:rPr>
              <a:t>m = 2 of 28 treated (not 14)  on purpose:</a:t>
            </a:r>
            <a:endParaRPr lang="en-US" sz="1400" dirty="0"/>
          </a:p>
          <a:p>
            <a:pPr marL="228600" indent="-228600">
              <a:spcAft>
                <a:spcPts val="1000"/>
              </a:spcAft>
              <a:buSzPct val="100000"/>
              <a:buChar char="•"/>
            </a:pPr>
            <a:r>
              <a:rPr lang="en-US" sz="1400" dirty="0">
                <a:solidFill>
                  <a:srgbClr val="1B1F3B"/>
                </a:solidFill>
                <a:latin typeface="Calibri" pitchFamily="34" charset="0"/>
                <a:ea typeface="Calibri" pitchFamily="34" charset="-122"/>
                <a:cs typeface="Calibri" pitchFamily="34" charset="-120"/>
              </a:rPr>
              <a:t>with only 2 treated precincts, the treated mean is an average of just two numbers, one unusual precinct can swing it enormously. That's what makes the two estimators' behavior diverge.</a:t>
            </a:r>
            <a:endParaRPr lang="en-US" sz="1400" dirty="0"/>
          </a:p>
          <a:p>
            <a:pPr marL="228600" indent="-228600">
              <a:spcAft>
                <a:spcPts val="1000"/>
              </a:spcAft>
              <a:buSzPct val="100000"/>
              <a:buChar char="•"/>
            </a:pPr>
            <a:r>
              <a:rPr lang="en-US" sz="1400" dirty="0">
                <a:solidFill>
                  <a:srgbClr val="1B1F3B"/>
                </a:solidFill>
                <a:latin typeface="Calibri" pitchFamily="34" charset="0"/>
                <a:ea typeface="Calibri" pitchFamily="34" charset="-122"/>
                <a:cs typeface="Calibri" pitchFamily="34" charset="-120"/>
              </a:rPr>
              <a:t>1,000 simulated re-randomizations; each time, fit BOTH estimators on the same fake data and record what they guess.</a:t>
            </a:r>
            <a:endParaRPr lang="en-US" sz="1400" dirty="0"/>
          </a:p>
        </p:txBody>
      </p:sp>
      <p:sp>
        <p:nvSpPr>
          <p:cNvPr id="7" name="Shape 4"/>
          <p:cNvSpPr/>
          <p:nvPr/>
        </p:nvSpPr>
        <p:spPr>
          <a:xfrm>
            <a:off x="6858000" y="1691640"/>
            <a:ext cx="4828032" cy="4297680"/>
          </a:xfrm>
          <a:prstGeom prst="roundRect">
            <a:avLst>
              <a:gd name="adj" fmla="val 1702"/>
            </a:avLst>
          </a:prstGeom>
          <a:solidFill>
            <a:srgbClr val="1E2761"/>
          </a:solidFill>
          <a:ln/>
          <a:effectLst>
            <a:outerShdw blurRad="101600" dist="38100" dir="5400000" algn="bl" rotWithShape="0">
              <a:srgbClr val="1B1F3B">
                <a:alpha val="18000"/>
              </a:srgbClr>
            </a:outerShdw>
          </a:effectLst>
        </p:spPr>
        <p:txBody>
          <a:bodyPr/>
          <a:lstStyle/>
          <a:p>
            <a:endParaRPr lang="en-US"/>
          </a:p>
        </p:txBody>
      </p:sp>
      <p:sp>
        <p:nvSpPr>
          <p:cNvPr id="8" name="Text 5"/>
          <p:cNvSpPr txBox="1"/>
          <p:nvPr/>
        </p:nvSpPr>
        <p:spPr>
          <a:xfrm>
            <a:off x="7132320" y="1874520"/>
            <a:ext cx="429768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Two estimators</a:t>
            </a:r>
            <a:endParaRPr lang="en-US" sz="1350" dirty="0"/>
          </a:p>
        </p:txBody>
      </p:sp>
      <p:pic>
        <p:nvPicPr>
          <p:cNvPr id="9" name="Image 1" descr="/tmp/deck5/icons/calculator_terracotta.png"/>
          <p:cNvPicPr>
            <a:picLocks noChangeAspect="1"/>
          </p:cNvPicPr>
          <p:nvPr/>
        </p:nvPicPr>
        <p:blipFill>
          <a:blip r:embed="rId4"/>
          <a:stretch>
            <a:fillRect/>
          </a:stretch>
        </p:blipFill>
        <p:spPr>
          <a:xfrm>
            <a:off x="7132320" y="2331720"/>
            <a:ext cx="365760" cy="365760"/>
          </a:xfrm>
          <a:prstGeom prst="rect">
            <a:avLst/>
          </a:prstGeom>
        </p:spPr>
      </p:pic>
      <p:sp>
        <p:nvSpPr>
          <p:cNvPr id="10" name="Text 6"/>
          <p:cNvSpPr txBox="1"/>
          <p:nvPr/>
        </p:nvSpPr>
        <p:spPr>
          <a:xfrm>
            <a:off x="7635240" y="2331720"/>
            <a:ext cx="3749040" cy="54864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OLS / diff-in-means. Every precinct weighted equally</a:t>
            </a:r>
            <a:endParaRPr lang="en-US" sz="1250" dirty="0"/>
          </a:p>
        </p:txBody>
      </p:sp>
      <p:pic>
        <p:nvPicPr>
          <p:cNvPr id="11" name="Image 2" descr="/tmp/deck5/icons/scale_terracotta.png"/>
          <p:cNvPicPr>
            <a:picLocks noChangeAspect="1"/>
          </p:cNvPicPr>
          <p:nvPr/>
        </p:nvPicPr>
        <p:blipFill>
          <a:blip r:embed="rId5"/>
          <a:stretch>
            <a:fillRect/>
          </a:stretch>
        </p:blipFill>
        <p:spPr>
          <a:xfrm>
            <a:off x="7132320" y="3017520"/>
            <a:ext cx="365760" cy="365760"/>
          </a:xfrm>
          <a:prstGeom prst="rect">
            <a:avLst/>
          </a:prstGeom>
        </p:spPr>
      </p:pic>
      <p:sp>
        <p:nvSpPr>
          <p:cNvPr id="12" name="Text 7"/>
          <p:cNvSpPr txBox="1"/>
          <p:nvPr/>
        </p:nvSpPr>
        <p:spPr>
          <a:xfrm>
            <a:off x="7635240" y="2971800"/>
            <a:ext cx="3749040" cy="68580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lmrob() M-estimator. Down-weights precincts with unusually large residuals</a:t>
            </a:r>
            <a:endParaRPr lang="en-US" sz="1250" dirty="0"/>
          </a:p>
        </p:txBody>
      </p:sp>
      <p:sp>
        <p:nvSpPr>
          <p:cNvPr id="13" name="Text 8"/>
          <p:cNvSpPr txBox="1"/>
          <p:nvPr/>
        </p:nvSpPr>
        <p:spPr>
          <a:xfrm>
            <a:off x="7132320" y="3977640"/>
            <a:ext cx="4297680" cy="1737360"/>
          </a:xfrm>
          <a:prstGeom prst="rect">
            <a:avLst/>
          </a:prstGeom>
          <a:noFill/>
          <a:ln/>
        </p:spPr>
        <p:txBody>
          <a:bodyPr wrap="square" rtlCol="0" anchor="t"/>
          <a:lstStyle/>
          <a:p>
            <a:pPr marL="0" indent="0">
              <a:buNone/>
            </a:pPr>
            <a:r>
              <a:rPr lang="en-US" sz="1300" i="1" dirty="0">
                <a:solidFill>
                  <a:srgbClr val="CADCFC"/>
                </a:solidFill>
                <a:latin typeface="Cambria" pitchFamily="34" charset="0"/>
                <a:ea typeface="Cambria" pitchFamily="34" charset="-122"/>
                <a:cs typeface="Cambria" pitchFamily="34" charset="-120"/>
              </a:rPr>
              <a:t>“We get to know the true effect in advance -- something we could never do with ACORN's real data -- so we can check which method's guesses land closer to it.”</a:t>
            </a:r>
            <a:endParaRPr lang="en-US" sz="1300" dirty="0"/>
          </a:p>
        </p:txBody>
      </p:sp>
      <p:sp>
        <p:nvSpPr>
          <p:cNvPr id="14" name="Text 9"/>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15" name="Text 10"/>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scale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Q10</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Two estimators, same design, 1,000 runs</a:t>
            </a:r>
            <a:endParaRPr lang="en-US" sz="2700" dirty="0"/>
          </a:p>
        </p:txBody>
      </p:sp>
      <p:pic>
        <p:nvPicPr>
          <p:cNvPr id="6" name="Image 1" descr="/tmp/deck5/assets/fig2.png"/>
          <p:cNvPicPr>
            <a:picLocks noChangeAspect="1"/>
          </p:cNvPicPr>
          <p:nvPr/>
        </p:nvPicPr>
        <p:blipFill>
          <a:blip r:embed="rId4"/>
          <a:srcRect/>
          <a:stretch/>
        </p:blipFill>
        <p:spPr>
          <a:xfrm>
            <a:off x="374227" y="1677924"/>
            <a:ext cx="6035040" cy="4160520"/>
          </a:xfrm>
          <a:prstGeom prst="rect">
            <a:avLst/>
          </a:prstGeom>
        </p:spPr>
      </p:pic>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0" y="1691640"/>
          <a:ext cx="4892040" cy="1234440"/>
        </p:xfrm>
        <a:graphic>
          <a:graphicData uri="http://schemas.openxmlformats.org/drawingml/2006/table">
            <a:tbl>
              <a:tblPr/>
              <a:tblGrid>
                <a:gridCol w="1223010">
                  <a:extLst>
                    <a:ext uri="{9D8B030D-6E8A-4147-A177-3AD203B41FA5}">
                      <a16:colId xmlns:a16="http://schemas.microsoft.com/office/drawing/2014/main" val="20000"/>
                    </a:ext>
                  </a:extLst>
                </a:gridCol>
                <a:gridCol w="1223010">
                  <a:extLst>
                    <a:ext uri="{9D8B030D-6E8A-4147-A177-3AD203B41FA5}">
                      <a16:colId xmlns:a16="http://schemas.microsoft.com/office/drawing/2014/main" val="20001"/>
                    </a:ext>
                  </a:extLst>
                </a:gridCol>
                <a:gridCol w="1223010">
                  <a:extLst>
                    <a:ext uri="{9D8B030D-6E8A-4147-A177-3AD203B41FA5}">
                      <a16:colId xmlns:a16="http://schemas.microsoft.com/office/drawing/2014/main" val="20002"/>
                    </a:ext>
                  </a:extLst>
                </a:gridCol>
                <a:gridCol w="1223010">
                  <a:extLst>
                    <a:ext uri="{9D8B030D-6E8A-4147-A177-3AD203B41FA5}">
                      <a16:colId xmlns:a16="http://schemas.microsoft.com/office/drawing/2014/main" val="20003"/>
                    </a:ext>
                  </a:extLst>
                </a:gridCol>
              </a:tblGrid>
              <a:tr h="411480">
                <a:tc>
                  <a:txBody>
                    <a:bodyPr/>
                    <a:lstStyle/>
                    <a:p>
                      <a:pPr marL="0" indent="0" algn="ctr">
                        <a:buNone/>
                      </a:pPr>
                      <a:r>
                        <a:rPr lang="en-US" sz="1300" b="1" dirty="0">
                          <a:solidFill>
                            <a:srgbClr val="1B1F3B"/>
                          </a:solidFill>
                          <a:latin typeface="Calibri" pitchFamily="34" charset="0"/>
                          <a:ea typeface="Calibri" pitchFamily="34" charset="-122"/>
                          <a:cs typeface="Calibri" pitchFamily="34" charset="-120"/>
                        </a:rPr>
                        <a:t>estimator</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tc>
                  <a:txBody>
                    <a:bodyPr/>
                    <a:lstStyle/>
                    <a:p>
                      <a:pPr marL="0" indent="0" algn="ctr">
                        <a:buNone/>
                      </a:pPr>
                      <a:r>
                        <a:rPr lang="en-US" sz="1300" b="1" dirty="0">
                          <a:solidFill>
                            <a:srgbClr val="1B1F3B"/>
                          </a:solidFill>
                          <a:latin typeface="Calibri" pitchFamily="34" charset="0"/>
                          <a:ea typeface="Calibri" pitchFamily="34" charset="-122"/>
                          <a:cs typeface="Calibri" pitchFamily="34" charset="-120"/>
                        </a:rPr>
                        <a:t>bias</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tc>
                  <a:txBody>
                    <a:bodyPr/>
                    <a:lstStyle/>
                    <a:p>
                      <a:pPr marL="0" indent="0" algn="ctr">
                        <a:buNone/>
                      </a:pPr>
                      <a:r>
                        <a:rPr lang="en-US" sz="1300" b="1" dirty="0">
                          <a:solidFill>
                            <a:srgbClr val="1B1F3B"/>
                          </a:solidFill>
                          <a:latin typeface="Calibri" pitchFamily="34" charset="0"/>
                          <a:ea typeface="Calibri" pitchFamily="34" charset="-122"/>
                          <a:cs typeface="Calibri" pitchFamily="34" charset="-120"/>
                        </a:rPr>
                        <a:t>rmse</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tc>
                  <a:txBody>
                    <a:bodyPr/>
                    <a:lstStyle/>
                    <a:p>
                      <a:pPr marL="0" indent="0" algn="ctr">
                        <a:buNone/>
                      </a:pPr>
                      <a:r>
                        <a:rPr lang="en-US" sz="1300" b="1" dirty="0">
                          <a:solidFill>
                            <a:srgbClr val="1B1F3B"/>
                          </a:solidFill>
                          <a:latin typeface="Calibri" pitchFamily="34" charset="0"/>
                          <a:ea typeface="Calibri" pitchFamily="34" charset="-122"/>
                          <a:cs typeface="Calibri" pitchFamily="34" charset="-120"/>
                        </a:rPr>
                        <a:t>sd</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extLst>
                  <a:ext uri="{0D108BD9-81ED-4DB2-BD59-A6C34878D82A}">
                    <a16:rowId xmlns:a16="http://schemas.microsoft.com/office/drawing/2014/main" val="10000"/>
                  </a:ext>
                </a:extLst>
              </a:tr>
              <a:tr h="411480">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OLS</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−0.003</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0.113</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0.113</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extLst>
                  <a:ext uri="{0D108BD9-81ED-4DB2-BD59-A6C34878D82A}">
                    <a16:rowId xmlns:a16="http://schemas.microsoft.com/office/drawing/2014/main" val="10001"/>
                  </a:ext>
                </a:extLst>
              </a:tr>
              <a:tr h="411480">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lmrob</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−0.031</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0.093</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tc>
                  <a:txBody>
                    <a:bodyPr/>
                    <a:lstStyle/>
                    <a:p>
                      <a:pPr marL="0" indent="0" algn="ctr">
                        <a:buNone/>
                      </a:pPr>
                      <a:r>
                        <a:rPr lang="en-US" sz="1300" dirty="0">
                          <a:solidFill>
                            <a:srgbClr val="1B1F3B"/>
                          </a:solidFill>
                          <a:latin typeface="Calibri" pitchFamily="34" charset="0"/>
                          <a:ea typeface="Calibri" pitchFamily="34" charset="-122"/>
                          <a:cs typeface="Calibri" pitchFamily="34" charset="-120"/>
                        </a:rPr>
                        <a:t>0.087</a:t>
                      </a:r>
                      <a:endParaRPr lang="en-US" sz="1300" dirty="0">
                        <a:latin typeface="Calibri" charset="0"/>
                        <a:ea typeface="Calibri" charset="0"/>
                        <a:cs typeface="Calibri" charset="0"/>
                      </a:endParaRPr>
                    </a:p>
                  </a:txBody>
                  <a:tcPr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bl>
          </a:graphicData>
        </a:graphic>
      </p:graphicFrame>
      <p:sp>
        <p:nvSpPr>
          <p:cNvPr id="8" name="Text 3"/>
          <p:cNvSpPr txBox="1"/>
          <p:nvPr/>
        </p:nvSpPr>
        <p:spPr>
          <a:xfrm>
            <a:off x="6858000" y="3108960"/>
            <a:ext cx="4434840" cy="2834640"/>
          </a:xfrm>
          <a:prstGeom prst="rect">
            <a:avLst/>
          </a:prstGeom>
          <a:noFill/>
          <a:ln/>
        </p:spPr>
        <p:txBody>
          <a:bodyPr wrap="square" rtlCol="0" anchor="t"/>
          <a:lstStyle/>
          <a:p>
            <a:pPr marL="228600" indent="-228600">
              <a:spcAft>
                <a:spcPts val="1000"/>
              </a:spcAft>
              <a:buSzPct val="100000"/>
              <a:buChar char="•"/>
            </a:pPr>
            <a:r>
              <a:rPr lang="en-US" sz="1230" dirty="0">
                <a:solidFill>
                  <a:srgbClr val="1B1F3B"/>
                </a:solidFill>
                <a:latin typeface="Calibri" pitchFamily="34" charset="0"/>
                <a:ea typeface="Calibri" pitchFamily="34" charset="-122"/>
                <a:cs typeface="Calibri" pitchFamily="34" charset="-120"/>
              </a:rPr>
              <a:t>lmrob's mean estimate sits farther from the dashed true-ATE line -- real bias, the deliberate cost of down-weighting.</a:t>
            </a:r>
            <a:endParaRPr lang="en-US" sz="1230" dirty="0"/>
          </a:p>
          <a:p>
            <a:pPr marL="228600" indent="-228600">
              <a:spcAft>
                <a:spcPts val="1000"/>
              </a:spcAft>
              <a:buSzPct val="100000"/>
              <a:buChar char="•"/>
            </a:pPr>
            <a:r>
              <a:rPr lang="en-US" sz="1230" dirty="0">
                <a:solidFill>
                  <a:srgbClr val="1B1F3B"/>
                </a:solidFill>
                <a:latin typeface="Calibri" pitchFamily="34" charset="0"/>
                <a:ea typeface="Calibri" pitchFamily="34" charset="-122"/>
                <a:cs typeface="Calibri" pitchFamily="34" charset="-120"/>
              </a:rPr>
              <a:t>But lmrob's box is narrower (sd 0.087 vs 0.113) AND its RMSE is lower — in THIS rigged design, it lands closer to the truth on average.</a:t>
            </a:r>
            <a:endParaRPr lang="en-US" sz="1230" dirty="0"/>
          </a:p>
          <a:p>
            <a:pPr marL="228600" indent="-228600">
              <a:spcAft>
                <a:spcPts val="1000"/>
              </a:spcAft>
              <a:buSzPct val="100000"/>
              <a:buChar char="•"/>
            </a:pPr>
            <a:r>
              <a:rPr lang="en-US" sz="1230" b="1" dirty="0">
                <a:solidFill>
                  <a:srgbClr val="C1440E"/>
                </a:solidFill>
                <a:latin typeface="Calibri" pitchFamily="34" charset="0"/>
                <a:ea typeface="Calibri" pitchFamily="34" charset="-122"/>
                <a:cs typeface="Calibri" pitchFamily="34" charset="-120"/>
              </a:rPr>
              <a:t>Notice: OLS's own reported SE (0.076) understates its true sd_estimate (0.113). The Q8 caution, made concrete.</a:t>
            </a:r>
            <a:endParaRPr lang="en-US" sz="1230" dirty="0"/>
          </a:p>
        </p:txBody>
      </p:sp>
      <p:sp>
        <p:nvSpPr>
          <p:cNvPr id="9" name="Text 4"/>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10" name="Text 5"/>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scale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Q11</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Proving diff-in-means is unbiased</a:t>
            </a:r>
            <a:endParaRPr lang="en-US" sz="2700" dirty="0"/>
          </a:p>
        </p:txBody>
      </p:sp>
      <p:sp>
        <p:nvSpPr>
          <p:cNvPr id="6" name="Shape 3"/>
          <p:cNvSpPr/>
          <p:nvPr/>
        </p:nvSpPr>
        <p:spPr>
          <a:xfrm>
            <a:off x="548640" y="1554480"/>
            <a:ext cx="11094415" cy="1737360"/>
          </a:xfrm>
          <a:prstGeom prst="roundRect">
            <a:avLst>
              <a:gd name="adj" fmla="val 4211"/>
            </a:avLst>
          </a:prstGeom>
          <a:solidFill>
            <a:srgbClr val="141A44"/>
          </a:solidFill>
          <a:ln/>
        </p:spPr>
        <p:txBody>
          <a:bodyPr/>
          <a:lstStyle/>
          <a:p>
            <a:endParaRPr lang="en-US"/>
          </a:p>
        </p:txBody>
      </p:sp>
      <p:sp>
        <p:nvSpPr>
          <p:cNvPr id="7" name="Text 4"/>
          <p:cNvSpPr txBox="1"/>
          <p:nvPr/>
        </p:nvSpPr>
        <p:spPr>
          <a:xfrm>
            <a:off x="822960" y="1691640"/>
            <a:ext cx="10698480" cy="1463040"/>
          </a:xfrm>
          <a:prstGeom prst="rect">
            <a:avLst/>
          </a:prstGeom>
          <a:noFill/>
          <a:ln/>
        </p:spPr>
        <p:txBody>
          <a:bodyPr wrap="square" rtlCol="0" anchor="t"/>
          <a:lstStyle/>
          <a:p>
            <a:pPr marL="0" indent="0">
              <a:buNone/>
            </a:pPr>
            <a:r>
              <a:rPr lang="en-US" sz="1600" dirty="0">
                <a:solidFill>
                  <a:srgbClr val="FFFFFF"/>
                </a:solidFill>
                <a:latin typeface="Cambria" pitchFamily="34" charset="0"/>
                <a:ea typeface="Cambria" pitchFamily="34" charset="-122"/>
                <a:cs typeface="Cambria" pitchFamily="34" charset="-120"/>
              </a:rPr>
              <a:t>E[ (1/m)Σ treated Yᵢ − (1/(N−m))Σ control Yᵢ ]
</a:t>
            </a:r>
            <a:r>
              <a:rPr lang="en-US" sz="1400" dirty="0">
                <a:solidFill>
                  <a:srgbClr val="9FB3E8"/>
                </a:solidFill>
                <a:latin typeface="Cambria" pitchFamily="34" charset="0"/>
                <a:ea typeface="Cambria" pitchFamily="34" charset="-122"/>
                <a:cs typeface="Cambria" pitchFamily="34" charset="-120"/>
              </a:rPr>
              <a:t>   =  E[Yᵢ(1) | Dᵢ=1] − E[Yᵢ(0) | Dᵢ=0]      (what's actually observed)
   =  E[Yᵢ(1)] − E[Yᵢ(0)]                              (random assignment — Q1)
</a:t>
            </a:r>
            <a:r>
              <a:rPr lang="en-US" sz="1600" b="1" dirty="0">
                <a:solidFill>
                  <a:srgbClr val="C1440E"/>
                </a:solidFill>
                <a:latin typeface="Cambria" pitchFamily="34" charset="0"/>
                <a:ea typeface="Cambria" pitchFamily="34" charset="-122"/>
                <a:cs typeface="Cambria" pitchFamily="34" charset="-120"/>
              </a:rPr>
              <a:t>   =  ATE</a:t>
            </a:r>
            <a:endParaRPr lang="en-US" sz="1600" dirty="0"/>
          </a:p>
        </p:txBody>
      </p:sp>
      <p:sp>
        <p:nvSpPr>
          <p:cNvPr id="8" name="Text 5"/>
          <p:cNvSpPr txBox="1"/>
          <p:nvPr/>
        </p:nvSpPr>
        <p:spPr>
          <a:xfrm>
            <a:off x="548640" y="3520440"/>
            <a:ext cx="10515600" cy="2651760"/>
          </a:xfrm>
          <a:prstGeom prst="rect">
            <a:avLst/>
          </a:prstGeom>
          <a:noFill/>
          <a:ln/>
        </p:spPr>
        <p:txBody>
          <a:bodyPr wrap="square" rtlCol="0" anchor="t"/>
          <a:lstStyle/>
          <a:p>
            <a:pPr marL="228600" indent="-228600">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The middle equality IS Q1's independence argument, formalized (Gerber &amp; Green, eq. 2.14): conditioning on Dᵢ=1 or Dᵢ=0 doesn't change the expected potential outcome.</a:t>
            </a:r>
            <a:endParaRPr lang="en-US" sz="1450" dirty="0"/>
          </a:p>
          <a:p>
            <a:pPr marL="228600" indent="-228600">
              <a:spcAft>
                <a:spcPts val="1000"/>
              </a:spcAft>
              <a:buSzPct val="100000"/>
              <a:buChar char="•"/>
            </a:pPr>
            <a:r>
              <a:rPr lang="en-US" sz="1450" b="1" dirty="0">
                <a:solidFill>
                  <a:srgbClr val="1B1F3B"/>
                </a:solidFill>
                <a:latin typeface="Calibri" pitchFamily="34" charset="0"/>
                <a:ea typeface="Calibri" pitchFamily="34" charset="-122"/>
                <a:cs typeface="Calibri" pitchFamily="34" charset="-120"/>
              </a:rPr>
              <a:t>Simulation check: swap m=2 for m=14 (ACORN's ACTUAL design) and rerun. OLS's bias should land at (or very near) zero, without the engineered m=2 outlier.</a:t>
            </a:r>
            <a:endParaRPr lang="en-US" sz="1450" dirty="0"/>
          </a:p>
        </p:txBody>
      </p:sp>
      <p:sp>
        <p:nvSpPr>
          <p:cNvPr id="9" name="Text 6"/>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10" name="Text 7"/>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E2761"/>
          </a:solidFill>
          <a:ln/>
        </p:spPr>
        <p:txBody>
          <a:bodyPr/>
          <a:lstStyle/>
          <a:p>
            <a:endParaRPr lang="en-US"/>
          </a:p>
        </p:txBody>
      </p:sp>
      <p:pic>
        <p:nvPicPr>
          <p:cNvPr id="3" name="Image 0" descr="/tmp/deck5/icons/question_wh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txBox="1"/>
          <p:nvPr/>
        </p:nvSpPr>
        <p:spPr>
          <a:xfrm>
            <a:off x="1325880" y="420624"/>
            <a:ext cx="8229600" cy="274320"/>
          </a:xfrm>
          <a:prstGeom prst="rect">
            <a:avLst/>
          </a:prstGeom>
          <a:noFill/>
          <a:ln/>
        </p:spPr>
        <p:txBody>
          <a:bodyPr wrap="square" rtlCol="0" anchor="ctr"/>
          <a:lstStyle/>
          <a:p>
            <a:pPr marL="0" indent="0">
              <a:buNone/>
            </a:pPr>
            <a:r>
              <a:rPr lang="en-US" sz="1250" b="1" kern="0" spc="150" dirty="0">
                <a:solidFill>
                  <a:srgbClr val="C1440E"/>
                </a:solidFill>
                <a:latin typeface="Calibri" pitchFamily="34" charset="0"/>
                <a:ea typeface="Calibri" pitchFamily="34" charset="-122"/>
                <a:cs typeface="Calibri" pitchFamily="34" charset="-120"/>
              </a:rPr>
              <a:t>Q12</a:t>
            </a:r>
            <a:endParaRPr lang="en-US" sz="1250" dirty="0"/>
          </a:p>
        </p:txBody>
      </p:sp>
      <p:sp>
        <p:nvSpPr>
          <p:cNvPr id="5" name="Text 2"/>
          <p:cNvSpPr txBox="1"/>
          <p:nvPr/>
        </p:nvSpPr>
        <p:spPr>
          <a:xfrm>
            <a:off x="1325880" y="658368"/>
            <a:ext cx="10317175"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Back to ACORN: what's still missing?</a:t>
            </a:r>
            <a:endParaRPr lang="en-US" sz="2700" dirty="0"/>
          </a:p>
        </p:txBody>
      </p:sp>
      <p:sp>
        <p:nvSpPr>
          <p:cNvPr id="6" name="Shape 3"/>
          <p:cNvSpPr/>
          <p:nvPr/>
        </p:nvSpPr>
        <p:spPr>
          <a:xfrm>
            <a:off x="548640" y="1737360"/>
            <a:ext cx="502920" cy="502920"/>
          </a:xfrm>
          <a:prstGeom prst="ellipse">
            <a:avLst/>
          </a:prstGeom>
          <a:solidFill>
            <a:srgbClr val="1E2761"/>
          </a:solidFill>
          <a:ln/>
        </p:spPr>
        <p:txBody>
          <a:bodyPr/>
          <a:lstStyle/>
          <a:p>
            <a:endParaRPr lang="en-US"/>
          </a:p>
        </p:txBody>
      </p:sp>
      <p:pic>
        <p:nvPicPr>
          <p:cNvPr id="7" name="Image 1" descr="/tmp/deck5/icons/door_white.png"/>
          <p:cNvPicPr>
            <a:picLocks noChangeAspect="1"/>
          </p:cNvPicPr>
          <p:nvPr/>
        </p:nvPicPr>
        <p:blipFill>
          <a:blip r:embed="rId4"/>
          <a:stretch>
            <a:fillRect/>
          </a:stretch>
        </p:blipFill>
        <p:spPr>
          <a:xfrm>
            <a:off x="658368" y="1847088"/>
            <a:ext cx="283464" cy="283464"/>
          </a:xfrm>
          <a:prstGeom prst="rect">
            <a:avLst/>
          </a:prstGeom>
        </p:spPr>
      </p:pic>
      <p:sp>
        <p:nvSpPr>
          <p:cNvPr id="8" name="Text 4"/>
          <p:cNvSpPr txBox="1"/>
          <p:nvPr/>
        </p:nvSpPr>
        <p:spPr>
          <a:xfrm>
            <a:off x="548640" y="2359152"/>
            <a:ext cx="3484778"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ITT ≠ TOT</a:t>
            </a:r>
            <a:endParaRPr lang="en-US" sz="1400" dirty="0"/>
          </a:p>
        </p:txBody>
      </p:sp>
      <p:sp>
        <p:nvSpPr>
          <p:cNvPr id="9" name="Text 5"/>
          <p:cNvSpPr txBox="1"/>
          <p:nvPr/>
        </p:nvSpPr>
        <p:spPr>
          <a:xfrm>
            <a:off x="548640" y="2670048"/>
            <a:ext cx="3484778" cy="1737360"/>
          </a:xfrm>
          <a:prstGeom prst="rect">
            <a:avLst/>
          </a:prstGeom>
          <a:noFill/>
          <a:ln/>
        </p:spPr>
        <p:txBody>
          <a:bodyPr wrap="square" rtlCol="0" anchor="t"/>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contact averages well under 100%. </a:t>
            </a:r>
            <a:r>
              <a:rPr lang="en-US" sz="1150" dirty="0" err="1">
                <a:solidFill>
                  <a:srgbClr val="1B1F3B"/>
                </a:solidFill>
                <a:latin typeface="Calibri" pitchFamily="34" charset="0"/>
                <a:ea typeface="Calibri" pitchFamily="34" charset="-122"/>
                <a:cs typeface="Calibri" pitchFamily="34" charset="-120"/>
              </a:rPr>
              <a:t>ACORN's</a:t>
            </a:r>
            <a:r>
              <a:rPr lang="en-US" sz="1150" dirty="0">
                <a:solidFill>
                  <a:srgbClr val="1B1F3B"/>
                </a:solidFill>
                <a:latin typeface="Calibri" pitchFamily="34" charset="0"/>
                <a:ea typeface="Calibri" pitchFamily="34" charset="-122"/>
                <a:cs typeface="Calibri" pitchFamily="34" charset="-120"/>
              </a:rPr>
              <a:t> real strategic question needs an effect among those actually reached, not everyone assigned.</a:t>
            </a:r>
            <a:endParaRPr lang="en-US" sz="1150" dirty="0"/>
          </a:p>
        </p:txBody>
      </p:sp>
      <p:sp>
        <p:nvSpPr>
          <p:cNvPr id="10" name="Shape 6"/>
          <p:cNvSpPr/>
          <p:nvPr/>
        </p:nvSpPr>
        <p:spPr>
          <a:xfrm>
            <a:off x="4353458" y="1737360"/>
            <a:ext cx="502920" cy="502920"/>
          </a:xfrm>
          <a:prstGeom prst="ellipse">
            <a:avLst/>
          </a:prstGeom>
          <a:solidFill>
            <a:srgbClr val="1E2761"/>
          </a:solidFill>
          <a:ln/>
        </p:spPr>
        <p:txBody>
          <a:bodyPr/>
          <a:lstStyle/>
          <a:p>
            <a:endParaRPr lang="en-US"/>
          </a:p>
        </p:txBody>
      </p:sp>
      <p:pic>
        <p:nvPicPr>
          <p:cNvPr id="11" name="Image 2" descr="/tmp/deck5/icons/split_white.png"/>
          <p:cNvPicPr>
            <a:picLocks noChangeAspect="1"/>
          </p:cNvPicPr>
          <p:nvPr/>
        </p:nvPicPr>
        <p:blipFill>
          <a:blip r:embed="rId5"/>
          <a:stretch>
            <a:fillRect/>
          </a:stretch>
        </p:blipFill>
        <p:spPr>
          <a:xfrm>
            <a:off x="4463186" y="1847088"/>
            <a:ext cx="283464" cy="283464"/>
          </a:xfrm>
          <a:prstGeom prst="rect">
            <a:avLst/>
          </a:prstGeom>
        </p:spPr>
      </p:pic>
      <p:sp>
        <p:nvSpPr>
          <p:cNvPr id="12" name="Text 7"/>
          <p:cNvSpPr txBox="1"/>
          <p:nvPr/>
        </p:nvSpPr>
        <p:spPr>
          <a:xfrm>
            <a:off x="4353458" y="2359152"/>
            <a:ext cx="3484778"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One average but many precincts</a:t>
            </a:r>
            <a:endParaRPr lang="en-US" sz="1400" dirty="0"/>
          </a:p>
        </p:txBody>
      </p:sp>
      <p:sp>
        <p:nvSpPr>
          <p:cNvPr id="13" name="Text 8"/>
          <p:cNvSpPr txBox="1"/>
          <p:nvPr/>
        </p:nvSpPr>
        <p:spPr>
          <a:xfrm>
            <a:off x="4353458" y="2670048"/>
            <a:ext cx="3484778" cy="1737360"/>
          </a:xfrm>
          <a:prstGeom prst="rect">
            <a:avLst/>
          </a:prstGeom>
          <a:noFill/>
          <a:ln/>
        </p:spPr>
        <p:txBody>
          <a:bodyPr wrap="square" rtlCol="0" anchor="t"/>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The ITT could hide precincts strongly moved and others not moved at all-- averaging to the same number.</a:t>
            </a:r>
            <a:endParaRPr lang="en-US" sz="1150" dirty="0"/>
          </a:p>
        </p:txBody>
      </p:sp>
      <p:sp>
        <p:nvSpPr>
          <p:cNvPr id="14" name="Shape 9"/>
          <p:cNvSpPr/>
          <p:nvPr/>
        </p:nvSpPr>
        <p:spPr>
          <a:xfrm>
            <a:off x="8158277" y="1737360"/>
            <a:ext cx="502920" cy="502920"/>
          </a:xfrm>
          <a:prstGeom prst="ellipse">
            <a:avLst/>
          </a:prstGeom>
          <a:solidFill>
            <a:srgbClr val="1E2761"/>
          </a:solidFill>
          <a:ln/>
        </p:spPr>
        <p:txBody>
          <a:bodyPr/>
          <a:lstStyle/>
          <a:p>
            <a:endParaRPr lang="en-US"/>
          </a:p>
        </p:txBody>
      </p:sp>
      <p:pic>
        <p:nvPicPr>
          <p:cNvPr id="15" name="Image 3" descr="/tmp/deck5/icons/map_white.png"/>
          <p:cNvPicPr>
            <a:picLocks noChangeAspect="1"/>
          </p:cNvPicPr>
          <p:nvPr/>
        </p:nvPicPr>
        <p:blipFill>
          <a:blip r:embed="rId6"/>
          <a:stretch>
            <a:fillRect/>
          </a:stretch>
        </p:blipFill>
        <p:spPr>
          <a:xfrm>
            <a:off x="8268005" y="1847088"/>
            <a:ext cx="283464" cy="283464"/>
          </a:xfrm>
          <a:prstGeom prst="rect">
            <a:avLst/>
          </a:prstGeom>
        </p:spPr>
      </p:pic>
      <p:sp>
        <p:nvSpPr>
          <p:cNvPr id="16" name="Text 10"/>
          <p:cNvSpPr txBox="1"/>
          <p:nvPr/>
        </p:nvSpPr>
        <p:spPr>
          <a:xfrm>
            <a:off x="8158277" y="2359152"/>
            <a:ext cx="3484778"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External validity</a:t>
            </a:r>
            <a:endParaRPr lang="en-US" sz="1400" dirty="0"/>
          </a:p>
        </p:txBody>
      </p:sp>
      <p:sp>
        <p:nvSpPr>
          <p:cNvPr id="17" name="Text 11"/>
          <p:cNvSpPr txBox="1"/>
          <p:nvPr/>
        </p:nvSpPr>
        <p:spPr>
          <a:xfrm>
            <a:off x="8158277" y="2670048"/>
            <a:ext cx="3484778" cy="1737360"/>
          </a:xfrm>
          <a:prstGeom prst="rect">
            <a:avLst/>
          </a:prstGeom>
          <a:noFill/>
          <a:ln/>
        </p:spPr>
        <p:txBody>
          <a:bodyPr wrap="square" rtlCol="0" anchor="t"/>
          <a:lstStyle/>
          <a:p>
            <a:pPr marL="0" indent="0">
              <a:lnSpc>
                <a:spcPct val="115000"/>
              </a:lnSpc>
              <a:buNone/>
            </a:pPr>
            <a:r>
              <a:rPr lang="en-US" sz="1150" dirty="0">
                <a:solidFill>
                  <a:srgbClr val="1B1F3B"/>
                </a:solidFill>
                <a:latin typeface="Calibri" pitchFamily="34" charset="0"/>
                <a:ea typeface="Calibri" pitchFamily="34" charset="-122"/>
                <a:cs typeface="Calibri" pitchFamily="34" charset="-120"/>
              </a:rPr>
              <a:t>??</a:t>
            </a:r>
            <a:endParaRPr lang="en-US" sz="1150" dirty="0"/>
          </a:p>
        </p:txBody>
      </p:sp>
      <p:sp>
        <p:nvSpPr>
          <p:cNvPr id="18" name="Shape 12"/>
          <p:cNvSpPr/>
          <p:nvPr/>
        </p:nvSpPr>
        <p:spPr>
          <a:xfrm>
            <a:off x="548640" y="3977640"/>
            <a:ext cx="11094415" cy="2011680"/>
          </a:xfrm>
          <a:prstGeom prst="roundRect">
            <a:avLst>
              <a:gd name="adj" fmla="val 3636"/>
            </a:avLst>
          </a:prstGeom>
          <a:solidFill>
            <a:srgbClr val="1E2761"/>
          </a:solidFill>
          <a:ln/>
          <a:effectLst>
            <a:outerShdw blurRad="101600" dist="38100" dir="5400000" algn="bl" rotWithShape="0">
              <a:srgbClr val="1B1F3B">
                <a:alpha val="18000"/>
              </a:srgbClr>
            </a:outerShdw>
          </a:effectLst>
        </p:spPr>
        <p:txBody>
          <a:bodyPr/>
          <a:lstStyle/>
          <a:p>
            <a:endParaRPr lang="en-US"/>
          </a:p>
        </p:txBody>
      </p:sp>
      <p:sp>
        <p:nvSpPr>
          <p:cNvPr id="19" name="Text 13"/>
          <p:cNvSpPr txBox="1"/>
          <p:nvPr/>
        </p:nvSpPr>
        <p:spPr>
          <a:xfrm>
            <a:off x="868680" y="4206240"/>
            <a:ext cx="10241280" cy="1554480"/>
          </a:xfrm>
          <a:prstGeom prst="rect">
            <a:avLst/>
          </a:prstGeom>
          <a:noFill/>
          <a:ln/>
        </p:spPr>
        <p:txBody>
          <a:bodyPr wrap="square" rtlCol="0" anchor="ctr"/>
          <a:lstStyle/>
          <a:p>
            <a:pPr marL="0" indent="0">
              <a:buNone/>
            </a:pPr>
            <a:r>
              <a:rPr lang="en-US" sz="1650" b="1" i="1" dirty="0">
                <a:solidFill>
                  <a:srgbClr val="FFFFFF"/>
                </a:solidFill>
                <a:latin typeface="Cambria" pitchFamily="34" charset="0"/>
                <a:ea typeface="Cambria" pitchFamily="34" charset="-122"/>
                <a:cs typeface="Cambria" pitchFamily="34" charset="-120"/>
              </a:rPr>
              <a:t>Unbiasedness answers “is the procedure stacked in one direction?”  not “is this the number ACORN needs, and is it worth the canvassing budget?”</a:t>
            </a:r>
            <a:endParaRPr lang="en-US" sz="1650" dirty="0"/>
          </a:p>
        </p:txBody>
      </p:sp>
      <p:sp>
        <p:nvSpPr>
          <p:cNvPr id="20" name="Text 14"/>
          <p:cNvSpPr txBox="1"/>
          <p:nvPr/>
        </p:nvSpPr>
        <p:spPr>
          <a:xfrm>
            <a:off x="548640" y="6492240"/>
            <a:ext cx="8229600" cy="27432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PS 530 · Exploration 5 — Estimating Unobserved Causal Quantities</a:t>
            </a:r>
            <a:endParaRPr lang="en-US" sz="950" dirty="0"/>
          </a:p>
        </p:txBody>
      </p:sp>
      <p:sp>
        <p:nvSpPr>
          <p:cNvPr id="21" name="Text 15"/>
          <p:cNvSpPr txBox="1"/>
          <p:nvPr/>
        </p:nvSpPr>
        <p:spPr>
          <a:xfrm>
            <a:off x="11185855" y="6492240"/>
            <a:ext cx="457200" cy="274320"/>
          </a:xfrm>
          <a:prstGeom prst="rect">
            <a:avLst/>
          </a:prstGeom>
          <a:noFill/>
          <a:ln/>
        </p:spPr>
        <p:txBody>
          <a:bodyPr wrap="square"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2758</Words>
  <Application>Microsoft Office PowerPoint</Application>
  <PresentationFormat>Widescreen</PresentationFormat>
  <Paragraphs>297</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Siddika, Rahnuma</cp:lastModifiedBy>
  <cp:revision>3</cp:revision>
  <dcterms:created xsi:type="dcterms:W3CDTF">2026-09-21T14:53:04Z</dcterms:created>
  <dcterms:modified xsi:type="dcterms:W3CDTF">2026-09-23T18:16:48Z</dcterms:modified>
</cp:coreProperties>
</file>