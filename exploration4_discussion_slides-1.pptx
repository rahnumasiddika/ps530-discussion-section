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3" r:id="rId5"/>
    <p:sldId id="259" r:id="rId6"/>
    <p:sldId id="260" r:id="rId7"/>
    <p:sldId id="261" r:id="rId8"/>
    <p:sldId id="262" r:id="rId9"/>
    <p:sldId id="263" r:id="rId10"/>
    <p:sldId id="272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68362" autoAdjust="0"/>
  </p:normalViewPr>
  <p:slideViewPr>
    <p:cSldViewPr snapToGrid="0" snapToObjects="1">
      <p:cViewPr varScale="1">
        <p:scale>
          <a:sx n="65" d="100"/>
          <a:sy n="65" d="100"/>
        </p:scale>
        <p:origin x="113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4416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some other examples. Imai's confounder definition ("associated with both the treatment and outcome").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about the reference/base category.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Depends on the choice of predictors.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424160" y="4206240"/>
            <a:ext cx="3840480" cy="384048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4 · DISCUSSION SECTION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 of Relationships III: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and Tables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05840" cy="0"/>
          </a:xfrm>
          <a:prstGeom prst="line">
            <a:avLst/>
          </a:prstGeom>
          <a:noFill/>
          <a:ln w="38100">
            <a:solidFill>
              <a:srgbClr val="B8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Introduction to Applied Statistics in Political Science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91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Rahnuma Siddika · Methods Preceptor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LEFT OFF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3 → Exploration 4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variables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CBINDEX, Politystand2014: values shade smoothly across a range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loess, a local curve, no straight-line assumption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span, chosen by 10-fold cross-validation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quality: R², held-out RMSE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07492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97180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DD_democracy, Britcol, region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tables, counts and proportions, no model at all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none. a category is a category, not a spectrum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quality: does lm() reproduce the table's cell means?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more (“Three Cheers for Description”, Ch. 5 → Ch. 6)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“Describe first, model second”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jump to a regression before you've looked at the plain counts.”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→ Loess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9359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shade smoothly. A line forces one fixed slope everywhere; loess instead asks, “what does the relationship look like right here?” neighborhood by neighborhood. 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3063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67512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→ Tables (and what else?)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59359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is either “Africa” or it isn’t. Nothing in between. There's no “shape” to estimate, so the honest first move is just counting: table(), prop.table(), addmargins().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DO run a regression on a category, it turns out to just be the table's numbers, rearranged.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TAXONOMY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categorical variables are alike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47288" cy="3703320"/>
          </a:xfrm>
          <a:prstGeom prst="roundRect">
            <a:avLst>
              <a:gd name="adj" fmla="val 265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4767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2199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order at all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· </a:t>
            </a:r>
            <a:r>
              <a:rPr lang="en-US" sz="1100" i="1" dirty="0" err="1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Britcol</a:t>
            </a: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2898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number, if the raw data has one, is just a label. Region8a = 3 isn’t “more region” than Region8a = 2 , relabel the categories in any order and nothing about the data changes.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447288" cy="3703320"/>
          </a:xfrm>
          <a:prstGeom prst="roundRect">
            <a:avLst>
              <a:gd name="adj" fmla="val 265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36008" y="194767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22199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ordered, gaps not equal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5176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· income bracket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3108960"/>
            <a:ext cx="2898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rank the categories, but the jump from category 2→3 isn’t guaranteed to be the same “size” as 3→4. Averaging the codes is a much shakier move than it looks.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1691640"/>
            <a:ext cx="3447288" cy="3703320"/>
          </a:xfrm>
          <a:prstGeom prst="roundRect">
            <a:avLst>
              <a:gd name="adj" fmla="val 265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49056" y="1947672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LIKERT-TYPE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49056" y="222199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 AND roughly even gaps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8449056" y="265176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5-pt agreement scale · 7-pt ideology scale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108960"/>
            <a:ext cx="28986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so the gaps are roughly equal by construction. This is the ordinal exception from Slide 2/3. Treating the scale as numeric (means, correlations, even a loess curve) becomes defensible. 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variable sits on this spectrum is a judgment call you make and defend —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R’s factor() treats all three identically unless you explicitly pass ordered = TRUE.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eight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21408"/>
            <a:ext cx="420624" cy="420624"/>
          </a:xfrm>
          <a:prstGeom prst="ellipse">
            <a:avLst/>
          </a:prstGeom>
          <a:solidFill>
            <a:srgbClr val="B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110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Q1–Q2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911096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your variables alone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91109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binary outcome y and a small-category driver z. Describe each on its own, before relating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3383280"/>
            <a:ext cx="420624" cy="420624"/>
          </a:xfrm>
          <a:prstGeom prst="ellipse">
            <a:avLst/>
          </a:prstGeom>
          <a:solidFill>
            <a:srgbClr val="B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686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1729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 them (tables only)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172968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vs. z with table()/prop.table()/addmargins(). No model yet. Interpret substantively.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4645152"/>
            <a:ext cx="420624" cy="420624"/>
          </a:xfrm>
          <a:prstGeom prst="ellipse">
            <a:avLst/>
          </a:prstGeom>
          <a:solidFill>
            <a:srgbClr val="B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68680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Q4–Q6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880360" y="443484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second category, x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443484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table and a regression give the identical cell means — if the regression is fully interacted.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56869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8680" y="5907024"/>
            <a:ext cx="420624" cy="420624"/>
          </a:xfrm>
          <a:prstGeom prst="ellipse">
            <a:avLst/>
          </a:prstGeom>
          <a:solidFill>
            <a:srgbClr val="B891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68680" y="5907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56967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Q7–Q8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56967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influential?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69671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on a category is exactly 1/(cell size). Swap in a continuous variable and watch that break.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WORKED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Norris's Democracy Cross-National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as Exploration 3 (Norris's Democracy Cross-National Data, 195 countries).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488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DD_democracy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48840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regime classification (Cheibub-Gandhi-Vreeland)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3127248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12724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Britcol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3127248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British colony? Theory: colonial legal/electoral legacy → democracy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4105656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105656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region4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4105656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Region8a collapsed to 4: Europe / Americas / Asia &amp; Middle East / Africa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" y="5084064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 swap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5084064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log(GDPPC2007)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5084064"/>
            <a:ext cx="6537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stand-in for z, to see influence change character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– Q2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each variable alone, first</a:t>
            </a:r>
            <a:endParaRPr lang="en-US" sz="3000" dirty="0"/>
          </a:p>
        </p:txBody>
      </p:sp>
      <p:pic>
        <p:nvPicPr>
          <p:cNvPr id="4" name="Image 0" descr="/tmp/ps530/figures4/fig1_q1q2_one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858000" cy="3941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55448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0" y="1664208"/>
            <a:ext cx="3703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267712"/>
            <a:ext cx="3703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countries coded democracies (117 of 190)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288036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2F5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0" y="2990088"/>
            <a:ext cx="370332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32.6%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593592"/>
            <a:ext cx="37033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former British colonies (62 of 190)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35240" y="4206240"/>
            <a:ext cx="397764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863840" y="43434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tasks: (1) describe the variable, (2) say what it means substantively about the world.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 them with tables, no model yet</a:t>
            </a:r>
            <a:endParaRPr lang="en-US" sz="3000" dirty="0"/>
          </a:p>
        </p:txBody>
      </p:sp>
      <p:pic>
        <p:nvPicPr>
          <p:cNvPr id="4" name="Image 0" descr="/tmp/ps530/figures4/fig2_q3_colony_democ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5852160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508760"/>
            <a:ext cx="4983480" cy="196596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03720" y="1691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64.8%  vs.  54.8%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24028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Not-former-colonies are democracies 64.8% of the time; former colonies, 54.8%. A 10-point gap — the OPPOSITE direction from the colonial-legacy theory.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29400" y="3611880"/>
            <a:ext cx="49834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03720" y="37490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row-conditional, not column-conditional?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416052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prop.table(margin=1) answers “within each colonial-history group, what share are democracies?” — the question the theory actually makes. margin=2 answers a different question (composition of democracies), not this one.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Q4 — LET’S PAUSE ON A CONCEPT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Wait! could region just be a confounder?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confounder</a:t>
            </a: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variable that causes BOTH z and y. So it can create (or hide) an association between them even if z has no real effect on y at all.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957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is a plausible confounder here: it plausibly causes Britcol (colonial history is geographically clustered) AND DD_democracy (regions differ in regime type for other reasons).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49928" y="2999232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49928" y="307238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49928" y="3364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suspected confounder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95848" y="3657600"/>
            <a:ext cx="0" cy="256032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3913632"/>
            <a:ext cx="7985455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03120" y="3913632"/>
            <a:ext cx="0" cy="457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088575" y="3913632"/>
            <a:ext cx="0" cy="45720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Britcol (z)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colony?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34095" y="4370832"/>
            <a:ext cx="3108960" cy="731520"/>
          </a:xfrm>
          <a:prstGeom prst="roundRect">
            <a:avLst>
              <a:gd name="adj" fmla="val 10000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534095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DD_democracy (y)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34095" y="4754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type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425696"/>
            <a:ext cx="4876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actually in question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94760" y="4736592"/>
            <a:ext cx="4602175" cy="0"/>
          </a:xfrm>
          <a:prstGeom prst="line">
            <a:avLst/>
          </a:prstGeom>
          <a:noFill/>
          <a:ln w="28575">
            <a:solidFill>
              <a:srgbClr val="B8912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why Q4 adds region as x -- and why Q6 checks it two ways, additive and interacted. If the colony-democracy gap survives once region is held constant, region isn't the whole story; if it vanishes or flips, it was.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CONFOUNDERS, CONTINUED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out, it breaks things. Here's how you fix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3520440"/>
          </a:xfrm>
          <a:prstGeom prst="roundRect">
            <a:avLst>
              <a:gd name="adj" fmla="val 259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947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leave it out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Spurious or masked relationship -- z and y can look related when they aren't, or unrelated when they are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reversal -- the pooled comparison can point the OPPOSITE direction from what's true within groups (exactly Q3 vs. Q6)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distortion -- an “average effect” can hide very different group-specific effects that cancel toward zero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07492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92240" y="1947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ADJUST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240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once you've measured 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788920"/>
            <a:ext cx="4434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it (additive): y ~ z + x -- one fixed adjustment, same for every group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it in: y ~ z * x -- lets the z-y relationship differ by group instead of forcing one number (Q6)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Stratify: split into confounder-level groups, compare z and y within each -- the table version of the same idea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Match: pair z=1 and z=0 cases with similar confounder values, compare only within pairs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none of these fix: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confounder you never measured. Only random assignment of z guarantees balance on every confounder, known or not -- which is exactly why observational data like this dataset always leaves some doubt these methods reduce but never fully close.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in a second category: region</a:t>
            </a:r>
            <a:endParaRPr lang="en-US" sz="3000" dirty="0"/>
          </a:p>
        </p:txBody>
      </p:sp>
      <p:pic>
        <p:nvPicPr>
          <p:cNvPr id="4" name="Image 0" descr="/tmp/ps530/figures4/fig3_q4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675120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554480"/>
            <a:ext cx="4114800" cy="4005072"/>
          </a:xfrm>
          <a:prstGeom prst="roundRect">
            <a:avLst>
              <a:gd name="adj" fmla="val 1826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7724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requirements, easy to skip: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9456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a real R factor(), not a number R will just average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plausibly relate to BOTH y and z. It's a stand-in for a potential confounder, not a random extra variable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Region8a (8 categories) collapsed here to 4: Europe / Americas / Asia &amp; Middle East / Africa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THE KEY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lm() on a category IS the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429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lm(y ~ x)  coefficients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Intercept (Europe)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Americas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0358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+0.074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02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Asia &amp; Middle East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−0.376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Africa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1696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−0.493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(Europe as the reference category)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0403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6400800" y="1691640"/>
            <a:ext cx="5212080" cy="3429000"/>
          </a:xfrm>
          <a:prstGeom prst="roundRect">
            <a:avLst>
              <a:gd name="adj" fmla="val 2667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tapply(y, x, mean)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Europe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Americas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3035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36027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Asia &amp; Middle East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6027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1696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Africa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41696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0.347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plain group averages, no lm() involved)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coefficient is exactly a group mean, or a difference between two group means. lm() didn't discover anything tapply() couldn't already show you.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categories at once: interacted vs. additive</a:t>
            </a:r>
            <a:endParaRPr lang="en-US" sz="3000" dirty="0"/>
          </a:p>
        </p:txBody>
      </p:sp>
      <p:pic>
        <p:nvPicPr>
          <p:cNvPr id="4" name="Image 0" descr="/tmp/ps530/figures4/fig4_q6_inte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5989320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50876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F2F5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903720" y="1618488"/>
            <a:ext cx="45720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0 (5.6×10⁻¹⁶)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084832"/>
            <a:ext cx="457200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gap: y~z*x fitted values vs. table cell means — exact match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560" y="2606040"/>
            <a:ext cx="48463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903720" y="271576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3218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gap for the additive model y~z+x — it can't reach the table at all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374904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040880" y="3886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 gives the sharpest example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422452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cell means: 0.826 (not-colony) vs. 1.000 (colony-- all 4 ex-British-colony European countries are democracies). The additive model reports ~0.83 for BOTH, it can't see the gap.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influential? Leverage = 1 / (cell size)</a:t>
            </a:r>
            <a:endParaRPr lang="en-US" sz="3000" dirty="0"/>
          </a:p>
        </p:txBody>
      </p:sp>
      <p:pic>
        <p:nvPicPr>
          <p:cNvPr id="4" name="Image 0" descr="/tmp/ps530/figures4/fig5_q7_le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6400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50876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452360" y="16642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such thing as an “extreme” country within a category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2402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country in the same region has IDENTICAL leverage. What matters is only: how small is the region, and does this country buck the majority outcome in it?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3520440"/>
            <a:ext cx="44348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452360" y="3657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Cuba, Guyana, Haiti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4023360"/>
            <a:ext cx="3886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of “Americas” countries are democracies — these 3 aren't. Highest Cook's D (0.034) of any countries in the data. Drop one, and the region's share moves 1/35 ≈ 2.9 points.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in a continuous variable, watch it change</a:t>
            </a:r>
            <a:endParaRPr lang="en-US" sz="3000" dirty="0"/>
          </a:p>
        </p:txBody>
      </p:sp>
      <p:pic>
        <p:nvPicPr>
          <p:cNvPr id="4" name="Image 0" descr="/tmp/ps530/figures4/fig6_q8_continuous_le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6537960" cy="41422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463040"/>
            <a:ext cx="429768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7452360" y="1572768"/>
            <a:ext cx="40233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  vs.  0.39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093976"/>
            <a:ext cx="40233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Cook's D / |dfbeta| with distance from mean logGDP — weak-to-moderate, not exact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0" y="269748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F2F5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54380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Carries over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309067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Cuba, Guyana, Haiti are still poor-ish non-democracies in an otherwise-democratic region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425196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754380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Newly prominent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645152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Uzbekistan, Tajikistan, Mauritius, Liberia--  unusual income, invisible to the categorical model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philosophy but two toolkits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(Exploration 3)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092440" y="1325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B891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(Exploration 4)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972800" cy="1051560"/>
          </a:xfrm>
          <a:prstGeom prst="rect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assume a shape” means…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loess, not a straight line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table, not a coefficient you haven't checked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eventually shown to be…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average, smoothed (loess IS the local mean)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8803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group differences (lm() IS the table)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72800" cy="1051560"/>
          </a:xfrm>
          <a:prstGeom prst="rect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9319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parameter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9319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span, chosen by cross-validation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93192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None. categories are what they are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looks like…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function of local density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9834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function of cell size, until you add a continuous variable back (Q8)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PS530 · Exploration 4 · Discussion Section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12F5AB-0C41-405B-9935-2993A613CD8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87ed898-3549-445f-a0e3-2e31aa07e99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1274</TotalTime>
  <Words>1906</Words>
  <Application>Microsoft Office PowerPoint</Application>
  <PresentationFormat>Widescreen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Siddika, Rahnuma</cp:lastModifiedBy>
  <cp:revision>8</cp:revision>
  <dcterms:created xsi:type="dcterms:W3CDTF">2026-09-11T15:17:59Z</dcterms:created>
  <dcterms:modified xsi:type="dcterms:W3CDTF">2026-09-16T18:40:33Z</dcterms:modified>
</cp:coreProperties>
</file>